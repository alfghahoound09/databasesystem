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5" r:id="rId1"/>
  </p:sldMasterIdLst>
  <p:notesMasterIdLst>
    <p:notesMasterId r:id="rId37"/>
  </p:notesMasterIdLst>
  <p:handoutMasterIdLst>
    <p:handoutMasterId r:id="rId38"/>
  </p:handoutMasterIdLst>
  <p:sldIdLst>
    <p:sldId id="256" r:id="rId2"/>
    <p:sldId id="299" r:id="rId3"/>
    <p:sldId id="328" r:id="rId4"/>
    <p:sldId id="329" r:id="rId5"/>
    <p:sldId id="322" r:id="rId6"/>
    <p:sldId id="356" r:id="rId7"/>
    <p:sldId id="354" r:id="rId8"/>
    <p:sldId id="327" r:id="rId9"/>
    <p:sldId id="357" r:id="rId10"/>
    <p:sldId id="326" r:id="rId11"/>
    <p:sldId id="332" r:id="rId12"/>
    <p:sldId id="333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21" r:id="rId22"/>
    <p:sldId id="342" r:id="rId23"/>
    <p:sldId id="355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50" r:id="rId32"/>
    <p:sldId id="351" r:id="rId33"/>
    <p:sldId id="352" r:id="rId34"/>
    <p:sldId id="353" r:id="rId35"/>
    <p:sldId id="291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>
      <p:cViewPr varScale="1">
        <p:scale>
          <a:sx n="115" d="100"/>
          <a:sy n="115" d="100"/>
        </p:scale>
        <p:origin x="153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669B46-8581-4908-8BB6-74284C15E7E8}" type="doc">
      <dgm:prSet loTypeId="urn:microsoft.com/office/officeart/2005/8/layout/process4" loCatId="process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241C855-6CE1-494A-B480-8897E0B78FCE}">
      <dgm:prSet/>
      <dgm:spPr/>
      <dgm:t>
        <a:bodyPr/>
        <a:lstStyle/>
        <a:p>
          <a:pPr rtl="0"/>
          <a:r>
            <a:rPr lang="en-US" dirty="0"/>
            <a:t>Manual File Systems</a:t>
          </a:r>
          <a:endParaRPr lang="en-CA" dirty="0"/>
        </a:p>
      </dgm:t>
    </dgm:pt>
    <dgm:pt modelId="{911BEFC1-A0A8-4A2C-8F31-B1275B45FB59}" type="parTrans" cxnId="{FD04B199-0999-43F2-BE6E-FDC03A38EECD}">
      <dgm:prSet/>
      <dgm:spPr/>
      <dgm:t>
        <a:bodyPr/>
        <a:lstStyle/>
        <a:p>
          <a:endParaRPr lang="en-US"/>
        </a:p>
      </dgm:t>
    </dgm:pt>
    <dgm:pt modelId="{97054B1D-865D-48AE-B5EF-7F13B96EAD8C}" type="sibTrans" cxnId="{FD04B199-0999-43F2-BE6E-FDC03A38EECD}">
      <dgm:prSet/>
      <dgm:spPr/>
      <dgm:t>
        <a:bodyPr/>
        <a:lstStyle/>
        <a:p>
          <a:endParaRPr lang="en-US"/>
        </a:p>
      </dgm:t>
    </dgm:pt>
    <dgm:pt modelId="{E35CB5C2-6A04-4E20-A92C-86F818C29F7C}">
      <dgm:prSet/>
      <dgm:spPr/>
      <dgm:t>
        <a:bodyPr/>
        <a:lstStyle/>
        <a:p>
          <a:pPr rtl="0"/>
          <a:r>
            <a:rPr lang="en-CA" dirty="0"/>
            <a:t>Accomplished through a system of file folders and filing cabinets</a:t>
          </a:r>
        </a:p>
      </dgm:t>
    </dgm:pt>
    <dgm:pt modelId="{083F2EE1-EB03-4021-8C76-B0A1A8F78301}" type="parTrans" cxnId="{761C0011-5277-4995-B587-84C672D4F254}">
      <dgm:prSet/>
      <dgm:spPr/>
      <dgm:t>
        <a:bodyPr/>
        <a:lstStyle/>
        <a:p>
          <a:endParaRPr lang="en-US"/>
        </a:p>
      </dgm:t>
    </dgm:pt>
    <dgm:pt modelId="{0B0ECC4E-6BD1-41F0-BAF6-56BC9AEA0BEC}" type="sibTrans" cxnId="{761C0011-5277-4995-B587-84C672D4F254}">
      <dgm:prSet/>
      <dgm:spPr/>
      <dgm:t>
        <a:bodyPr/>
        <a:lstStyle/>
        <a:p>
          <a:endParaRPr lang="en-US"/>
        </a:p>
      </dgm:t>
    </dgm:pt>
    <dgm:pt modelId="{38E2E731-8616-4C35-BD90-A6053A427059}">
      <dgm:prSet/>
      <dgm:spPr/>
      <dgm:t>
        <a:bodyPr/>
        <a:lstStyle/>
        <a:p>
          <a:pPr rtl="0"/>
          <a:r>
            <a:rPr lang="en-US"/>
            <a:t>Computerized File Systems</a:t>
          </a:r>
          <a:endParaRPr lang="en-CA"/>
        </a:p>
      </dgm:t>
    </dgm:pt>
    <dgm:pt modelId="{70D535E7-E86C-43F6-879F-8074D7FC957B}" type="parTrans" cxnId="{B2FB2321-22C4-4B1C-B827-D781CA8CD92C}">
      <dgm:prSet/>
      <dgm:spPr/>
      <dgm:t>
        <a:bodyPr/>
        <a:lstStyle/>
        <a:p>
          <a:endParaRPr lang="en-US"/>
        </a:p>
      </dgm:t>
    </dgm:pt>
    <dgm:pt modelId="{A8EFB906-7EBF-4439-879D-2F83B3864E3B}" type="sibTrans" cxnId="{B2FB2321-22C4-4B1C-B827-D781CA8CD92C}">
      <dgm:prSet/>
      <dgm:spPr/>
      <dgm:t>
        <a:bodyPr/>
        <a:lstStyle/>
        <a:p>
          <a:endParaRPr lang="en-US"/>
        </a:p>
      </dgm:t>
    </dgm:pt>
    <dgm:pt modelId="{129925E4-F026-4146-BFD2-862BA02A5274}">
      <dgm:prSet/>
      <dgm:spPr/>
      <dgm:t>
        <a:bodyPr/>
        <a:lstStyle/>
        <a:p>
          <a:pPr rtl="0"/>
          <a:r>
            <a:rPr lang="en-US" b="1" dirty="0"/>
            <a:t>Data processing (DP) specialist</a:t>
          </a:r>
          <a:r>
            <a:rPr lang="en-US" dirty="0"/>
            <a:t>: </a:t>
          </a:r>
          <a:r>
            <a:rPr lang="en-CA" dirty="0"/>
            <a:t>Created a computer-based system that would track data and produce required reports</a:t>
          </a:r>
        </a:p>
      </dgm:t>
    </dgm:pt>
    <dgm:pt modelId="{792D0476-06DB-4A0C-8F01-A60E744A15D5}" type="parTrans" cxnId="{058C0757-45C5-44F2-B109-64EF57438F0F}">
      <dgm:prSet/>
      <dgm:spPr/>
      <dgm:t>
        <a:bodyPr/>
        <a:lstStyle/>
        <a:p>
          <a:endParaRPr lang="en-US"/>
        </a:p>
      </dgm:t>
    </dgm:pt>
    <dgm:pt modelId="{B9446754-E224-4A3B-A924-391CC9039A5B}" type="sibTrans" cxnId="{058C0757-45C5-44F2-B109-64EF57438F0F}">
      <dgm:prSet/>
      <dgm:spPr/>
      <dgm:t>
        <a:bodyPr/>
        <a:lstStyle/>
        <a:p>
          <a:endParaRPr lang="en-US"/>
        </a:p>
      </dgm:t>
    </dgm:pt>
    <dgm:pt modelId="{AD4141C4-DAE9-4EF8-9285-7915476FAA05}">
      <dgm:prSet/>
      <dgm:spPr/>
      <dgm:t>
        <a:bodyPr/>
        <a:lstStyle/>
        <a:p>
          <a:pPr rtl="0"/>
          <a:r>
            <a:rPr lang="en-US"/>
            <a:t>File System Redux: Modern End-User Productivity Tools </a:t>
          </a:r>
          <a:endParaRPr lang="en-CA"/>
        </a:p>
      </dgm:t>
    </dgm:pt>
    <dgm:pt modelId="{8121DEE8-4A9A-4C2A-8C5A-75424E74F32F}" type="parTrans" cxnId="{2A07D53C-D6A6-4333-A4CF-0080C8FA5165}">
      <dgm:prSet/>
      <dgm:spPr/>
      <dgm:t>
        <a:bodyPr/>
        <a:lstStyle/>
        <a:p>
          <a:endParaRPr lang="en-US"/>
        </a:p>
      </dgm:t>
    </dgm:pt>
    <dgm:pt modelId="{08CF1D8A-25C1-45AB-8971-47CE135A5586}" type="sibTrans" cxnId="{2A07D53C-D6A6-4333-A4CF-0080C8FA5165}">
      <dgm:prSet/>
      <dgm:spPr/>
      <dgm:t>
        <a:bodyPr/>
        <a:lstStyle/>
        <a:p>
          <a:endParaRPr lang="en-US"/>
        </a:p>
      </dgm:t>
    </dgm:pt>
    <dgm:pt modelId="{F7B67030-BDB3-47EC-B3A0-70E4BC635EE1}">
      <dgm:prSet/>
      <dgm:spPr/>
      <dgm:t>
        <a:bodyPr/>
        <a:lstStyle/>
        <a:p>
          <a:pPr rtl="0"/>
          <a:r>
            <a:rPr lang="en-US"/>
            <a:t>Includes </a:t>
          </a:r>
          <a:r>
            <a:rPr lang="en-CA"/>
            <a:t>spreadsheet programs such as Microsoft Excel</a:t>
          </a:r>
        </a:p>
      </dgm:t>
    </dgm:pt>
    <dgm:pt modelId="{37BA4B48-39B4-4D1F-8839-2DBA11B54B36}" type="parTrans" cxnId="{F19B1FCC-C7DF-4F03-8BD0-620E58B44BF7}">
      <dgm:prSet/>
      <dgm:spPr/>
      <dgm:t>
        <a:bodyPr/>
        <a:lstStyle/>
        <a:p>
          <a:endParaRPr lang="en-US"/>
        </a:p>
      </dgm:t>
    </dgm:pt>
    <dgm:pt modelId="{D48C420A-1947-4209-BD08-BE3A42790405}" type="sibTrans" cxnId="{F19B1FCC-C7DF-4F03-8BD0-620E58B44BF7}">
      <dgm:prSet/>
      <dgm:spPr/>
      <dgm:t>
        <a:bodyPr/>
        <a:lstStyle/>
        <a:p>
          <a:endParaRPr lang="en-US"/>
        </a:p>
      </dgm:t>
    </dgm:pt>
    <dgm:pt modelId="{36D5EFA0-A46F-47C5-ACE7-6B8F7D856809}" type="pres">
      <dgm:prSet presAssocID="{33669B46-8581-4908-8BB6-74284C15E7E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D369DE2-35CC-41AB-B265-3229773F9580}" type="pres">
      <dgm:prSet presAssocID="{AD4141C4-DAE9-4EF8-9285-7915476FAA05}" presName="boxAndChildren" presStyleCnt="0"/>
      <dgm:spPr/>
    </dgm:pt>
    <dgm:pt modelId="{861E5E25-4F5D-4279-8A40-A72E5130953A}" type="pres">
      <dgm:prSet presAssocID="{AD4141C4-DAE9-4EF8-9285-7915476FAA05}" presName="parentTextBox" presStyleLbl="node1" presStyleIdx="0" presStyleCnt="3"/>
      <dgm:spPr/>
      <dgm:t>
        <a:bodyPr/>
        <a:lstStyle/>
        <a:p>
          <a:endParaRPr lang="en-US"/>
        </a:p>
      </dgm:t>
    </dgm:pt>
    <dgm:pt modelId="{3A7967EB-F850-420E-83F0-0ED0EB35030D}" type="pres">
      <dgm:prSet presAssocID="{AD4141C4-DAE9-4EF8-9285-7915476FAA05}" presName="entireBox" presStyleLbl="node1" presStyleIdx="0" presStyleCnt="3"/>
      <dgm:spPr/>
      <dgm:t>
        <a:bodyPr/>
        <a:lstStyle/>
        <a:p>
          <a:endParaRPr lang="en-US"/>
        </a:p>
      </dgm:t>
    </dgm:pt>
    <dgm:pt modelId="{33B2E0C6-0414-449E-B4A5-935D027A09C7}" type="pres">
      <dgm:prSet presAssocID="{AD4141C4-DAE9-4EF8-9285-7915476FAA05}" presName="descendantBox" presStyleCnt="0"/>
      <dgm:spPr/>
    </dgm:pt>
    <dgm:pt modelId="{72BA0602-0EDA-4ED1-8915-A7433C7D4E4B}" type="pres">
      <dgm:prSet presAssocID="{F7B67030-BDB3-47EC-B3A0-70E4BC635EE1}" presName="childTextBox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96CACF-97B9-4776-ADAC-E21D0F0D55AC}" type="pres">
      <dgm:prSet presAssocID="{A8EFB906-7EBF-4439-879D-2F83B3864E3B}" presName="sp" presStyleCnt="0"/>
      <dgm:spPr/>
    </dgm:pt>
    <dgm:pt modelId="{025CC1DD-C676-4C30-B3EE-2E79C8361059}" type="pres">
      <dgm:prSet presAssocID="{38E2E731-8616-4C35-BD90-A6053A427059}" presName="arrowAndChildren" presStyleCnt="0"/>
      <dgm:spPr/>
    </dgm:pt>
    <dgm:pt modelId="{19CE9AA5-8CB6-4C59-9F7F-EB4FE4881110}" type="pres">
      <dgm:prSet presAssocID="{38E2E731-8616-4C35-BD90-A6053A427059}" presName="parentTextArrow" presStyleLbl="node1" presStyleIdx="0" presStyleCnt="3"/>
      <dgm:spPr/>
      <dgm:t>
        <a:bodyPr/>
        <a:lstStyle/>
        <a:p>
          <a:endParaRPr lang="en-US"/>
        </a:p>
      </dgm:t>
    </dgm:pt>
    <dgm:pt modelId="{8C82CCEF-8287-4F59-9206-F89DC412D666}" type="pres">
      <dgm:prSet presAssocID="{38E2E731-8616-4C35-BD90-A6053A427059}" presName="arrow" presStyleLbl="node1" presStyleIdx="1" presStyleCnt="3"/>
      <dgm:spPr/>
      <dgm:t>
        <a:bodyPr/>
        <a:lstStyle/>
        <a:p>
          <a:endParaRPr lang="en-US"/>
        </a:p>
      </dgm:t>
    </dgm:pt>
    <dgm:pt modelId="{9A1867E2-166C-4CAB-A389-85F66C31F645}" type="pres">
      <dgm:prSet presAssocID="{38E2E731-8616-4C35-BD90-A6053A427059}" presName="descendantArrow" presStyleCnt="0"/>
      <dgm:spPr/>
    </dgm:pt>
    <dgm:pt modelId="{F056D08D-82DC-48A4-80AC-2E8D8D60D3B5}" type="pres">
      <dgm:prSet presAssocID="{129925E4-F026-4146-BFD2-862BA02A5274}" presName="childTextArrow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2B9C23-BFC9-4DB1-A329-B7AC64D596E3}" type="pres">
      <dgm:prSet presAssocID="{97054B1D-865D-48AE-B5EF-7F13B96EAD8C}" presName="sp" presStyleCnt="0"/>
      <dgm:spPr/>
    </dgm:pt>
    <dgm:pt modelId="{E737E149-6D5C-45C2-9E03-CA40B195508F}" type="pres">
      <dgm:prSet presAssocID="{0241C855-6CE1-494A-B480-8897E0B78FCE}" presName="arrowAndChildren" presStyleCnt="0"/>
      <dgm:spPr/>
    </dgm:pt>
    <dgm:pt modelId="{71918899-6F63-4EE4-91D4-B80446E4EE85}" type="pres">
      <dgm:prSet presAssocID="{0241C855-6CE1-494A-B480-8897E0B78FCE}" presName="parentTextArrow" presStyleLbl="node1" presStyleIdx="1" presStyleCnt="3"/>
      <dgm:spPr/>
      <dgm:t>
        <a:bodyPr/>
        <a:lstStyle/>
        <a:p>
          <a:endParaRPr lang="en-US"/>
        </a:p>
      </dgm:t>
    </dgm:pt>
    <dgm:pt modelId="{102B6564-8973-4585-9A6E-FC0242DE274A}" type="pres">
      <dgm:prSet presAssocID="{0241C855-6CE1-494A-B480-8897E0B78FCE}" presName="arrow" presStyleLbl="node1" presStyleIdx="2" presStyleCnt="3"/>
      <dgm:spPr/>
      <dgm:t>
        <a:bodyPr/>
        <a:lstStyle/>
        <a:p>
          <a:endParaRPr lang="en-US"/>
        </a:p>
      </dgm:t>
    </dgm:pt>
    <dgm:pt modelId="{8FB70510-7FD0-449F-863D-2C01D7766DD1}" type="pres">
      <dgm:prSet presAssocID="{0241C855-6CE1-494A-B480-8897E0B78FCE}" presName="descendantArrow" presStyleCnt="0"/>
      <dgm:spPr/>
    </dgm:pt>
    <dgm:pt modelId="{C4E80382-58C0-4FAA-AAB1-91945958B6DA}" type="pres">
      <dgm:prSet presAssocID="{E35CB5C2-6A04-4E20-A92C-86F818C29F7C}" presName="childTextArrow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61C0011-5277-4995-B587-84C672D4F254}" srcId="{0241C855-6CE1-494A-B480-8897E0B78FCE}" destId="{E35CB5C2-6A04-4E20-A92C-86F818C29F7C}" srcOrd="0" destOrd="0" parTransId="{083F2EE1-EB03-4021-8C76-B0A1A8F78301}" sibTransId="{0B0ECC4E-6BD1-41F0-BAF6-56BC9AEA0BEC}"/>
    <dgm:cxn modelId="{781770EA-7F4F-4D59-8A5B-1A5A060CA5DE}" type="presOf" srcId="{129925E4-F026-4146-BFD2-862BA02A5274}" destId="{F056D08D-82DC-48A4-80AC-2E8D8D60D3B5}" srcOrd="0" destOrd="0" presId="urn:microsoft.com/office/officeart/2005/8/layout/process4"/>
    <dgm:cxn modelId="{E99AE953-AD6A-453A-86C1-15DABA9832D9}" type="presOf" srcId="{0241C855-6CE1-494A-B480-8897E0B78FCE}" destId="{102B6564-8973-4585-9A6E-FC0242DE274A}" srcOrd="1" destOrd="0" presId="urn:microsoft.com/office/officeart/2005/8/layout/process4"/>
    <dgm:cxn modelId="{C2F7B4C7-58C1-45AD-A2F0-B3F5B3B4D8B0}" type="presOf" srcId="{38E2E731-8616-4C35-BD90-A6053A427059}" destId="{8C82CCEF-8287-4F59-9206-F89DC412D666}" srcOrd="1" destOrd="0" presId="urn:microsoft.com/office/officeart/2005/8/layout/process4"/>
    <dgm:cxn modelId="{7E8AA36B-820E-4D86-893A-8052F2F2FD4D}" type="presOf" srcId="{AD4141C4-DAE9-4EF8-9285-7915476FAA05}" destId="{3A7967EB-F850-420E-83F0-0ED0EB35030D}" srcOrd="1" destOrd="0" presId="urn:microsoft.com/office/officeart/2005/8/layout/process4"/>
    <dgm:cxn modelId="{2A07D53C-D6A6-4333-A4CF-0080C8FA5165}" srcId="{33669B46-8581-4908-8BB6-74284C15E7E8}" destId="{AD4141C4-DAE9-4EF8-9285-7915476FAA05}" srcOrd="2" destOrd="0" parTransId="{8121DEE8-4A9A-4C2A-8C5A-75424E74F32F}" sibTransId="{08CF1D8A-25C1-45AB-8971-47CE135A5586}"/>
    <dgm:cxn modelId="{B2FB2321-22C4-4B1C-B827-D781CA8CD92C}" srcId="{33669B46-8581-4908-8BB6-74284C15E7E8}" destId="{38E2E731-8616-4C35-BD90-A6053A427059}" srcOrd="1" destOrd="0" parTransId="{70D535E7-E86C-43F6-879F-8074D7FC957B}" sibTransId="{A8EFB906-7EBF-4439-879D-2F83B3864E3B}"/>
    <dgm:cxn modelId="{B9841113-915E-4170-9283-F9FAA63815F9}" type="presOf" srcId="{38E2E731-8616-4C35-BD90-A6053A427059}" destId="{19CE9AA5-8CB6-4C59-9F7F-EB4FE4881110}" srcOrd="0" destOrd="0" presId="urn:microsoft.com/office/officeart/2005/8/layout/process4"/>
    <dgm:cxn modelId="{1AB24BBB-EE75-404E-8DC9-0874E9C8637C}" type="presOf" srcId="{F7B67030-BDB3-47EC-B3A0-70E4BC635EE1}" destId="{72BA0602-0EDA-4ED1-8915-A7433C7D4E4B}" srcOrd="0" destOrd="0" presId="urn:microsoft.com/office/officeart/2005/8/layout/process4"/>
    <dgm:cxn modelId="{FD04B199-0999-43F2-BE6E-FDC03A38EECD}" srcId="{33669B46-8581-4908-8BB6-74284C15E7E8}" destId="{0241C855-6CE1-494A-B480-8897E0B78FCE}" srcOrd="0" destOrd="0" parTransId="{911BEFC1-A0A8-4A2C-8F31-B1275B45FB59}" sibTransId="{97054B1D-865D-48AE-B5EF-7F13B96EAD8C}"/>
    <dgm:cxn modelId="{591B0E64-4C90-4738-9F55-78774343149C}" type="presOf" srcId="{33669B46-8581-4908-8BB6-74284C15E7E8}" destId="{36D5EFA0-A46F-47C5-ACE7-6B8F7D856809}" srcOrd="0" destOrd="0" presId="urn:microsoft.com/office/officeart/2005/8/layout/process4"/>
    <dgm:cxn modelId="{EE643687-2510-40EB-877C-CFAA35CFAA9A}" type="presOf" srcId="{E35CB5C2-6A04-4E20-A92C-86F818C29F7C}" destId="{C4E80382-58C0-4FAA-AAB1-91945958B6DA}" srcOrd="0" destOrd="0" presId="urn:microsoft.com/office/officeart/2005/8/layout/process4"/>
    <dgm:cxn modelId="{2A637EB2-8D27-4ADE-8C3A-EB974A072804}" type="presOf" srcId="{AD4141C4-DAE9-4EF8-9285-7915476FAA05}" destId="{861E5E25-4F5D-4279-8A40-A72E5130953A}" srcOrd="0" destOrd="0" presId="urn:microsoft.com/office/officeart/2005/8/layout/process4"/>
    <dgm:cxn modelId="{058C0757-45C5-44F2-B109-64EF57438F0F}" srcId="{38E2E731-8616-4C35-BD90-A6053A427059}" destId="{129925E4-F026-4146-BFD2-862BA02A5274}" srcOrd="0" destOrd="0" parTransId="{792D0476-06DB-4A0C-8F01-A60E744A15D5}" sibTransId="{B9446754-E224-4A3B-A924-391CC9039A5B}"/>
    <dgm:cxn modelId="{1D4F485F-65DF-481B-916A-3D802510D4B1}" type="presOf" srcId="{0241C855-6CE1-494A-B480-8897E0B78FCE}" destId="{71918899-6F63-4EE4-91D4-B80446E4EE85}" srcOrd="0" destOrd="0" presId="urn:microsoft.com/office/officeart/2005/8/layout/process4"/>
    <dgm:cxn modelId="{F19B1FCC-C7DF-4F03-8BD0-620E58B44BF7}" srcId="{AD4141C4-DAE9-4EF8-9285-7915476FAA05}" destId="{F7B67030-BDB3-47EC-B3A0-70E4BC635EE1}" srcOrd="0" destOrd="0" parTransId="{37BA4B48-39B4-4D1F-8839-2DBA11B54B36}" sibTransId="{D48C420A-1947-4209-BD08-BE3A42790405}"/>
    <dgm:cxn modelId="{D77493CD-D643-4C80-AEC6-AA56583A29B8}" type="presParOf" srcId="{36D5EFA0-A46F-47C5-ACE7-6B8F7D856809}" destId="{7D369DE2-35CC-41AB-B265-3229773F9580}" srcOrd="0" destOrd="0" presId="urn:microsoft.com/office/officeart/2005/8/layout/process4"/>
    <dgm:cxn modelId="{C813108E-6B77-42CA-AA41-F9DB6A8D6996}" type="presParOf" srcId="{7D369DE2-35CC-41AB-B265-3229773F9580}" destId="{861E5E25-4F5D-4279-8A40-A72E5130953A}" srcOrd="0" destOrd="0" presId="urn:microsoft.com/office/officeart/2005/8/layout/process4"/>
    <dgm:cxn modelId="{1A1B92DA-3D08-4716-AE1A-9393F9AA734A}" type="presParOf" srcId="{7D369DE2-35CC-41AB-B265-3229773F9580}" destId="{3A7967EB-F850-420E-83F0-0ED0EB35030D}" srcOrd="1" destOrd="0" presId="urn:microsoft.com/office/officeart/2005/8/layout/process4"/>
    <dgm:cxn modelId="{B945EA35-B70B-49D9-8B14-C775C181DE5B}" type="presParOf" srcId="{7D369DE2-35CC-41AB-B265-3229773F9580}" destId="{33B2E0C6-0414-449E-B4A5-935D027A09C7}" srcOrd="2" destOrd="0" presId="urn:microsoft.com/office/officeart/2005/8/layout/process4"/>
    <dgm:cxn modelId="{58E10FD8-CE1C-41AD-83B8-6F056313CF4C}" type="presParOf" srcId="{33B2E0C6-0414-449E-B4A5-935D027A09C7}" destId="{72BA0602-0EDA-4ED1-8915-A7433C7D4E4B}" srcOrd="0" destOrd="0" presId="urn:microsoft.com/office/officeart/2005/8/layout/process4"/>
    <dgm:cxn modelId="{46957D07-849E-4DE8-AB01-E7BD586FC7AC}" type="presParOf" srcId="{36D5EFA0-A46F-47C5-ACE7-6B8F7D856809}" destId="{A096CACF-97B9-4776-ADAC-E21D0F0D55AC}" srcOrd="1" destOrd="0" presId="urn:microsoft.com/office/officeart/2005/8/layout/process4"/>
    <dgm:cxn modelId="{7ADF9A9C-83E9-44F8-A35B-A7027B8256E2}" type="presParOf" srcId="{36D5EFA0-A46F-47C5-ACE7-6B8F7D856809}" destId="{025CC1DD-C676-4C30-B3EE-2E79C8361059}" srcOrd="2" destOrd="0" presId="urn:microsoft.com/office/officeart/2005/8/layout/process4"/>
    <dgm:cxn modelId="{B0B69869-219A-42C1-ACB0-35DB625A2CF8}" type="presParOf" srcId="{025CC1DD-C676-4C30-B3EE-2E79C8361059}" destId="{19CE9AA5-8CB6-4C59-9F7F-EB4FE4881110}" srcOrd="0" destOrd="0" presId="urn:microsoft.com/office/officeart/2005/8/layout/process4"/>
    <dgm:cxn modelId="{B3A77F8F-BA40-47A0-9BF3-2D4D92DEE927}" type="presParOf" srcId="{025CC1DD-C676-4C30-B3EE-2E79C8361059}" destId="{8C82CCEF-8287-4F59-9206-F89DC412D666}" srcOrd="1" destOrd="0" presId="urn:microsoft.com/office/officeart/2005/8/layout/process4"/>
    <dgm:cxn modelId="{97AD6C8D-BB4B-4D65-825D-2EBC2561B1D3}" type="presParOf" srcId="{025CC1DD-C676-4C30-B3EE-2E79C8361059}" destId="{9A1867E2-166C-4CAB-A389-85F66C31F645}" srcOrd="2" destOrd="0" presId="urn:microsoft.com/office/officeart/2005/8/layout/process4"/>
    <dgm:cxn modelId="{672BEF06-71D9-488D-8A18-414C9A1576D9}" type="presParOf" srcId="{9A1867E2-166C-4CAB-A389-85F66C31F645}" destId="{F056D08D-82DC-48A4-80AC-2E8D8D60D3B5}" srcOrd="0" destOrd="0" presId="urn:microsoft.com/office/officeart/2005/8/layout/process4"/>
    <dgm:cxn modelId="{01C8A35C-5790-4322-AAF0-F843D48C62D4}" type="presParOf" srcId="{36D5EFA0-A46F-47C5-ACE7-6B8F7D856809}" destId="{862B9C23-BFC9-4DB1-A329-B7AC64D596E3}" srcOrd="3" destOrd="0" presId="urn:microsoft.com/office/officeart/2005/8/layout/process4"/>
    <dgm:cxn modelId="{4B391D1C-948F-4EB0-8392-EA9AFF996D67}" type="presParOf" srcId="{36D5EFA0-A46F-47C5-ACE7-6B8F7D856809}" destId="{E737E149-6D5C-45C2-9E03-CA40B195508F}" srcOrd="4" destOrd="0" presId="urn:microsoft.com/office/officeart/2005/8/layout/process4"/>
    <dgm:cxn modelId="{C1C3B01E-98B5-4BE5-B41C-C8426C8430DE}" type="presParOf" srcId="{E737E149-6D5C-45C2-9E03-CA40B195508F}" destId="{71918899-6F63-4EE4-91D4-B80446E4EE85}" srcOrd="0" destOrd="0" presId="urn:microsoft.com/office/officeart/2005/8/layout/process4"/>
    <dgm:cxn modelId="{0FC10693-AD28-4BCA-9099-CE67A9170A2B}" type="presParOf" srcId="{E737E149-6D5C-45C2-9E03-CA40B195508F}" destId="{102B6564-8973-4585-9A6E-FC0242DE274A}" srcOrd="1" destOrd="0" presId="urn:microsoft.com/office/officeart/2005/8/layout/process4"/>
    <dgm:cxn modelId="{9C223CD3-03E5-49E7-A8E0-54319D70237E}" type="presParOf" srcId="{E737E149-6D5C-45C2-9E03-CA40B195508F}" destId="{8FB70510-7FD0-449F-863D-2C01D7766DD1}" srcOrd="2" destOrd="0" presId="urn:microsoft.com/office/officeart/2005/8/layout/process4"/>
    <dgm:cxn modelId="{2D41589E-4057-485E-92E8-BD3E61883451}" type="presParOf" srcId="{8FB70510-7FD0-449F-863D-2C01D7766DD1}" destId="{C4E80382-58C0-4FAA-AAB1-91945958B6D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74A2E5-E86C-458E-B619-7C59B6AA854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26194DA-C365-466F-8ED1-A1A027E20007}">
      <dgm:prSet phldrT="[Text]"/>
      <dgm:spPr/>
      <dgm:t>
        <a:bodyPr/>
        <a:lstStyle/>
        <a:p>
          <a:r>
            <a:rPr lang="en-US" dirty="0"/>
            <a:t>Lengthy development times</a:t>
          </a:r>
        </a:p>
      </dgm:t>
    </dgm:pt>
    <dgm:pt modelId="{2E833176-BEDF-45B7-9F8A-0648F3312A9F}" type="parTrans" cxnId="{69E4C0DD-319A-4BE1-9B7F-D49FD575DE6F}">
      <dgm:prSet/>
      <dgm:spPr/>
      <dgm:t>
        <a:bodyPr/>
        <a:lstStyle/>
        <a:p>
          <a:endParaRPr lang="en-US"/>
        </a:p>
      </dgm:t>
    </dgm:pt>
    <dgm:pt modelId="{40B0B770-CE47-4E72-ADAE-A4F69007BA1E}" type="sibTrans" cxnId="{69E4C0DD-319A-4BE1-9B7F-D49FD575DE6F}">
      <dgm:prSet/>
      <dgm:spPr/>
      <dgm:t>
        <a:bodyPr/>
        <a:lstStyle/>
        <a:p>
          <a:endParaRPr lang="en-US"/>
        </a:p>
      </dgm:t>
    </dgm:pt>
    <dgm:pt modelId="{FF7F15AE-6752-4151-992E-3F41AE651DC4}">
      <dgm:prSet phldrT="[Text]"/>
      <dgm:spPr/>
      <dgm:t>
        <a:bodyPr/>
        <a:lstStyle/>
        <a:p>
          <a:r>
            <a:rPr lang="en-US" altLang="en-US" dirty="0">
              <a:ea typeface="ＭＳ Ｐゴシック" charset="-128"/>
            </a:rPr>
            <a:t>Difficulty of getting quick answers</a:t>
          </a:r>
          <a:endParaRPr lang="en-US" dirty="0"/>
        </a:p>
      </dgm:t>
    </dgm:pt>
    <dgm:pt modelId="{901698D4-3AB0-4BC1-9E3E-30816E9EC7D0}" type="parTrans" cxnId="{652158CC-C165-4801-8EF2-5CCCBC533760}">
      <dgm:prSet/>
      <dgm:spPr/>
      <dgm:t>
        <a:bodyPr/>
        <a:lstStyle/>
        <a:p>
          <a:endParaRPr lang="en-US"/>
        </a:p>
      </dgm:t>
    </dgm:pt>
    <dgm:pt modelId="{DB877FF2-15EF-4232-9338-E469AFDC7306}" type="sibTrans" cxnId="{652158CC-C165-4801-8EF2-5CCCBC533760}">
      <dgm:prSet/>
      <dgm:spPr/>
      <dgm:t>
        <a:bodyPr/>
        <a:lstStyle/>
        <a:p>
          <a:endParaRPr lang="en-US"/>
        </a:p>
      </dgm:t>
    </dgm:pt>
    <dgm:pt modelId="{03C1B186-1D24-4B68-A511-5CF4B8B4BD90}">
      <dgm:prSet phldrT="[Text]"/>
      <dgm:spPr/>
      <dgm:t>
        <a:bodyPr/>
        <a:lstStyle/>
        <a:p>
          <a:r>
            <a:rPr lang="en-US" altLang="en-US" dirty="0">
              <a:ea typeface="ＭＳ Ｐゴシック" charset="-128"/>
            </a:rPr>
            <a:t>Complex system administration</a:t>
          </a:r>
          <a:endParaRPr lang="en-US" dirty="0"/>
        </a:p>
      </dgm:t>
    </dgm:pt>
    <dgm:pt modelId="{ACBA1645-2D89-437F-8EFD-59112B21B419}" type="parTrans" cxnId="{E31F5EF3-C386-46F4-8EDD-98ECE209A08F}">
      <dgm:prSet/>
      <dgm:spPr/>
      <dgm:t>
        <a:bodyPr/>
        <a:lstStyle/>
        <a:p>
          <a:endParaRPr lang="en-US"/>
        </a:p>
      </dgm:t>
    </dgm:pt>
    <dgm:pt modelId="{E69CB3CE-FC31-4BAD-8670-B4AC7E6ADCEE}" type="sibTrans" cxnId="{E31F5EF3-C386-46F4-8EDD-98ECE209A08F}">
      <dgm:prSet/>
      <dgm:spPr/>
      <dgm:t>
        <a:bodyPr/>
        <a:lstStyle/>
        <a:p>
          <a:endParaRPr lang="en-US"/>
        </a:p>
      </dgm:t>
    </dgm:pt>
    <dgm:pt modelId="{90053126-2F2F-410B-9B57-A8A93DC2E675}">
      <dgm:prSet phldrT="[Text]"/>
      <dgm:spPr/>
      <dgm:t>
        <a:bodyPr/>
        <a:lstStyle/>
        <a:p>
          <a:r>
            <a:rPr lang="en-US" altLang="en-US" dirty="0">
              <a:ea typeface="ＭＳ Ｐゴシック" charset="-128"/>
            </a:rPr>
            <a:t>Lack of security and limited data sharing</a:t>
          </a:r>
          <a:endParaRPr lang="en-US" dirty="0"/>
        </a:p>
      </dgm:t>
    </dgm:pt>
    <dgm:pt modelId="{466622E3-AB33-4DA0-9C25-2D634CD1575B}" type="parTrans" cxnId="{69CF13F3-55DD-4891-A81A-3480A8B9D0F2}">
      <dgm:prSet/>
      <dgm:spPr/>
      <dgm:t>
        <a:bodyPr/>
        <a:lstStyle/>
        <a:p>
          <a:endParaRPr lang="en-US"/>
        </a:p>
      </dgm:t>
    </dgm:pt>
    <dgm:pt modelId="{E9C3DE04-403F-4FB6-89DB-9F00B90C0C62}" type="sibTrans" cxnId="{69CF13F3-55DD-4891-A81A-3480A8B9D0F2}">
      <dgm:prSet/>
      <dgm:spPr/>
      <dgm:t>
        <a:bodyPr/>
        <a:lstStyle/>
        <a:p>
          <a:endParaRPr lang="en-US"/>
        </a:p>
      </dgm:t>
    </dgm:pt>
    <dgm:pt modelId="{48328B96-25CC-42D5-9041-FF7E492FE47E}">
      <dgm:prSet phldrT="[Text]"/>
      <dgm:spPr/>
      <dgm:t>
        <a:bodyPr/>
        <a:lstStyle/>
        <a:p>
          <a:r>
            <a:rPr lang="en-US" altLang="en-US" dirty="0">
              <a:ea typeface="ＭＳ Ｐゴシック" charset="-128"/>
            </a:rPr>
            <a:t>Extensive programming</a:t>
          </a:r>
          <a:endParaRPr lang="en-US" dirty="0"/>
        </a:p>
      </dgm:t>
    </dgm:pt>
    <dgm:pt modelId="{0D3F711C-7FAB-433C-BC21-549DB7CE8A86}" type="parTrans" cxnId="{200B0BF2-8F8A-4F43-8756-38153550B9AF}">
      <dgm:prSet/>
      <dgm:spPr/>
      <dgm:t>
        <a:bodyPr/>
        <a:lstStyle/>
        <a:p>
          <a:endParaRPr lang="en-US"/>
        </a:p>
      </dgm:t>
    </dgm:pt>
    <dgm:pt modelId="{93BB0911-1F73-4F94-A111-71673A5751A2}" type="sibTrans" cxnId="{200B0BF2-8F8A-4F43-8756-38153550B9AF}">
      <dgm:prSet/>
      <dgm:spPr/>
      <dgm:t>
        <a:bodyPr/>
        <a:lstStyle/>
        <a:p>
          <a:endParaRPr lang="en-US"/>
        </a:p>
      </dgm:t>
    </dgm:pt>
    <dgm:pt modelId="{1D8D2596-1022-49D2-B36A-3298A148F696}" type="pres">
      <dgm:prSet presAssocID="{5D74A2E5-E86C-458E-B619-7C59B6AA8541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525E960-0FD0-42EA-914D-DDAEC206C06D}" type="pres">
      <dgm:prSet presAssocID="{226194DA-C365-466F-8ED1-A1A027E20007}" presName="parentLin" presStyleCnt="0"/>
      <dgm:spPr/>
    </dgm:pt>
    <dgm:pt modelId="{9F417E28-4D3D-4E7F-8FFC-0E4AC424D823}" type="pres">
      <dgm:prSet presAssocID="{226194DA-C365-466F-8ED1-A1A027E20007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0BBC4BC2-A2A2-451F-9761-5FE20C33E4FE}" type="pres">
      <dgm:prSet presAssocID="{226194DA-C365-466F-8ED1-A1A027E20007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400367-C102-4C35-8BC5-34276A793319}" type="pres">
      <dgm:prSet presAssocID="{226194DA-C365-466F-8ED1-A1A027E20007}" presName="negativeSpace" presStyleCnt="0"/>
      <dgm:spPr/>
    </dgm:pt>
    <dgm:pt modelId="{097EB689-A004-48DB-854B-92D0EE94C769}" type="pres">
      <dgm:prSet presAssocID="{226194DA-C365-466F-8ED1-A1A027E20007}" presName="childText" presStyleLbl="conFgAcc1" presStyleIdx="0" presStyleCnt="5">
        <dgm:presLayoutVars>
          <dgm:bulletEnabled val="1"/>
        </dgm:presLayoutVars>
      </dgm:prSet>
      <dgm:spPr/>
    </dgm:pt>
    <dgm:pt modelId="{820F6194-2D83-4E42-9850-50245796C3C0}" type="pres">
      <dgm:prSet presAssocID="{40B0B770-CE47-4E72-ADAE-A4F69007BA1E}" presName="spaceBetweenRectangles" presStyleCnt="0"/>
      <dgm:spPr/>
    </dgm:pt>
    <dgm:pt modelId="{560DE406-A244-475C-8FF3-92D29CB087DF}" type="pres">
      <dgm:prSet presAssocID="{FF7F15AE-6752-4151-992E-3F41AE651DC4}" presName="parentLin" presStyleCnt="0"/>
      <dgm:spPr/>
    </dgm:pt>
    <dgm:pt modelId="{6B7F0B8A-C4C6-4EE5-8194-41B694E221AF}" type="pres">
      <dgm:prSet presAssocID="{FF7F15AE-6752-4151-992E-3F41AE651DC4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D3D34603-A871-4CCC-B0AA-27D730ABF7B7}" type="pres">
      <dgm:prSet presAssocID="{FF7F15AE-6752-4151-992E-3F41AE651DC4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4709C9-33F7-4D5B-8331-982611E1E04B}" type="pres">
      <dgm:prSet presAssocID="{FF7F15AE-6752-4151-992E-3F41AE651DC4}" presName="negativeSpace" presStyleCnt="0"/>
      <dgm:spPr/>
    </dgm:pt>
    <dgm:pt modelId="{2290BA4A-2840-4F74-9747-7C99C24B8AF7}" type="pres">
      <dgm:prSet presAssocID="{FF7F15AE-6752-4151-992E-3F41AE651DC4}" presName="childText" presStyleLbl="conFgAcc1" presStyleIdx="1" presStyleCnt="5">
        <dgm:presLayoutVars>
          <dgm:bulletEnabled val="1"/>
        </dgm:presLayoutVars>
      </dgm:prSet>
      <dgm:spPr/>
    </dgm:pt>
    <dgm:pt modelId="{5C3AAAC4-9CA7-49D8-85B2-093ABD79300D}" type="pres">
      <dgm:prSet presAssocID="{DB877FF2-15EF-4232-9338-E469AFDC7306}" presName="spaceBetweenRectangles" presStyleCnt="0"/>
      <dgm:spPr/>
    </dgm:pt>
    <dgm:pt modelId="{99534CC2-C037-4BD9-8BA9-7313AED6EC5E}" type="pres">
      <dgm:prSet presAssocID="{03C1B186-1D24-4B68-A511-5CF4B8B4BD90}" presName="parentLin" presStyleCnt="0"/>
      <dgm:spPr/>
    </dgm:pt>
    <dgm:pt modelId="{C84EBAA0-44AC-4B6A-9404-4F87800DAF78}" type="pres">
      <dgm:prSet presAssocID="{03C1B186-1D24-4B68-A511-5CF4B8B4BD90}" presName="parentLeftMargin" presStyleLbl="node1" presStyleIdx="1" presStyleCnt="5"/>
      <dgm:spPr/>
      <dgm:t>
        <a:bodyPr/>
        <a:lstStyle/>
        <a:p>
          <a:endParaRPr lang="en-US"/>
        </a:p>
      </dgm:t>
    </dgm:pt>
    <dgm:pt modelId="{AD5E33E7-8944-4E93-A3FB-F501DD12D50D}" type="pres">
      <dgm:prSet presAssocID="{03C1B186-1D24-4B68-A511-5CF4B8B4BD90}" presName="parentText" presStyleLbl="node1" presStyleIdx="2" presStyleCnt="5" custLinFactNeighborX="-5190" custLinFactNeighborY="7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F2FD45-83B7-452C-B131-72E5250ED6E4}" type="pres">
      <dgm:prSet presAssocID="{03C1B186-1D24-4B68-A511-5CF4B8B4BD90}" presName="negativeSpace" presStyleCnt="0"/>
      <dgm:spPr/>
    </dgm:pt>
    <dgm:pt modelId="{6C3CB1C7-AA51-47E2-9A0D-A3FAD504461F}" type="pres">
      <dgm:prSet presAssocID="{03C1B186-1D24-4B68-A511-5CF4B8B4BD90}" presName="childText" presStyleLbl="conFgAcc1" presStyleIdx="2" presStyleCnt="5">
        <dgm:presLayoutVars>
          <dgm:bulletEnabled val="1"/>
        </dgm:presLayoutVars>
      </dgm:prSet>
      <dgm:spPr/>
    </dgm:pt>
    <dgm:pt modelId="{87A98867-4BF4-4729-9C86-01FC01B5FCE6}" type="pres">
      <dgm:prSet presAssocID="{E69CB3CE-FC31-4BAD-8670-B4AC7E6ADCEE}" presName="spaceBetweenRectangles" presStyleCnt="0"/>
      <dgm:spPr/>
    </dgm:pt>
    <dgm:pt modelId="{CB81A0F5-D14E-49B6-AD4F-A630492004C8}" type="pres">
      <dgm:prSet presAssocID="{90053126-2F2F-410B-9B57-A8A93DC2E675}" presName="parentLin" presStyleCnt="0"/>
      <dgm:spPr/>
    </dgm:pt>
    <dgm:pt modelId="{870D827E-A312-4783-881D-513893365AB8}" type="pres">
      <dgm:prSet presAssocID="{90053126-2F2F-410B-9B57-A8A93DC2E675}" presName="parentLeftMargin" presStyleLbl="node1" presStyleIdx="2" presStyleCnt="5"/>
      <dgm:spPr/>
      <dgm:t>
        <a:bodyPr/>
        <a:lstStyle/>
        <a:p>
          <a:endParaRPr lang="en-US"/>
        </a:p>
      </dgm:t>
    </dgm:pt>
    <dgm:pt modelId="{495FCD0E-0B7A-46A9-9D3E-26613CD2DA44}" type="pres">
      <dgm:prSet presAssocID="{90053126-2F2F-410B-9B57-A8A93DC2E675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8B7597-07F7-418C-BABD-89CF08BFB67B}" type="pres">
      <dgm:prSet presAssocID="{90053126-2F2F-410B-9B57-A8A93DC2E675}" presName="negativeSpace" presStyleCnt="0"/>
      <dgm:spPr/>
    </dgm:pt>
    <dgm:pt modelId="{A4673CFF-A832-4A73-BE27-92A04ADE9453}" type="pres">
      <dgm:prSet presAssocID="{90053126-2F2F-410B-9B57-A8A93DC2E675}" presName="childText" presStyleLbl="conFgAcc1" presStyleIdx="3" presStyleCnt="5">
        <dgm:presLayoutVars>
          <dgm:bulletEnabled val="1"/>
        </dgm:presLayoutVars>
      </dgm:prSet>
      <dgm:spPr/>
    </dgm:pt>
    <dgm:pt modelId="{E2F797BD-B096-4DCE-A2E0-0825505507BF}" type="pres">
      <dgm:prSet presAssocID="{E9C3DE04-403F-4FB6-89DB-9F00B90C0C62}" presName="spaceBetweenRectangles" presStyleCnt="0"/>
      <dgm:spPr/>
    </dgm:pt>
    <dgm:pt modelId="{3F826202-972F-4998-9CF8-3AFF9F17CEBA}" type="pres">
      <dgm:prSet presAssocID="{48328B96-25CC-42D5-9041-FF7E492FE47E}" presName="parentLin" presStyleCnt="0"/>
      <dgm:spPr/>
    </dgm:pt>
    <dgm:pt modelId="{91535265-7594-44B4-B395-3DC071598667}" type="pres">
      <dgm:prSet presAssocID="{48328B96-25CC-42D5-9041-FF7E492FE47E}" presName="parentLeftMargin" presStyleLbl="node1" presStyleIdx="3" presStyleCnt="5"/>
      <dgm:spPr/>
      <dgm:t>
        <a:bodyPr/>
        <a:lstStyle/>
        <a:p>
          <a:endParaRPr lang="en-US"/>
        </a:p>
      </dgm:t>
    </dgm:pt>
    <dgm:pt modelId="{4B9BB0C9-D3CD-4510-B0B5-3FD968B85575}" type="pres">
      <dgm:prSet presAssocID="{48328B96-25CC-42D5-9041-FF7E492FE47E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782A7D-A223-4663-9FDC-E59BC4D4A860}" type="pres">
      <dgm:prSet presAssocID="{48328B96-25CC-42D5-9041-FF7E492FE47E}" presName="negativeSpace" presStyleCnt="0"/>
      <dgm:spPr/>
    </dgm:pt>
    <dgm:pt modelId="{77E3F82F-751C-4A84-B47B-BBA28CD78176}" type="pres">
      <dgm:prSet presAssocID="{48328B96-25CC-42D5-9041-FF7E492FE47E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E3DD0E7E-180D-401D-9E79-A7EFFFF58B91}" type="presOf" srcId="{48328B96-25CC-42D5-9041-FF7E492FE47E}" destId="{4B9BB0C9-D3CD-4510-B0B5-3FD968B85575}" srcOrd="1" destOrd="0" presId="urn:microsoft.com/office/officeart/2005/8/layout/list1"/>
    <dgm:cxn modelId="{652158CC-C165-4801-8EF2-5CCCBC533760}" srcId="{5D74A2E5-E86C-458E-B619-7C59B6AA8541}" destId="{FF7F15AE-6752-4151-992E-3F41AE651DC4}" srcOrd="1" destOrd="0" parTransId="{901698D4-3AB0-4BC1-9E3E-30816E9EC7D0}" sibTransId="{DB877FF2-15EF-4232-9338-E469AFDC7306}"/>
    <dgm:cxn modelId="{E31F5EF3-C386-46F4-8EDD-98ECE209A08F}" srcId="{5D74A2E5-E86C-458E-B619-7C59B6AA8541}" destId="{03C1B186-1D24-4B68-A511-5CF4B8B4BD90}" srcOrd="2" destOrd="0" parTransId="{ACBA1645-2D89-437F-8EFD-59112B21B419}" sibTransId="{E69CB3CE-FC31-4BAD-8670-B4AC7E6ADCEE}"/>
    <dgm:cxn modelId="{D297005B-C53B-4360-BF43-92DBD4FFCC73}" type="presOf" srcId="{FF7F15AE-6752-4151-992E-3F41AE651DC4}" destId="{D3D34603-A871-4CCC-B0AA-27D730ABF7B7}" srcOrd="1" destOrd="0" presId="urn:microsoft.com/office/officeart/2005/8/layout/list1"/>
    <dgm:cxn modelId="{F79DD581-46F9-4045-A814-FB1954F3099C}" type="presOf" srcId="{FF7F15AE-6752-4151-992E-3F41AE651DC4}" destId="{6B7F0B8A-C4C6-4EE5-8194-41B694E221AF}" srcOrd="0" destOrd="0" presId="urn:microsoft.com/office/officeart/2005/8/layout/list1"/>
    <dgm:cxn modelId="{DD28A051-01DC-4A13-A4A1-2D24D25DDBA6}" type="presOf" srcId="{226194DA-C365-466F-8ED1-A1A027E20007}" destId="{9F417E28-4D3D-4E7F-8FFC-0E4AC424D823}" srcOrd="0" destOrd="0" presId="urn:microsoft.com/office/officeart/2005/8/layout/list1"/>
    <dgm:cxn modelId="{41AD00CE-3E5A-4352-9EC1-3DB85378EBC3}" type="presOf" srcId="{03C1B186-1D24-4B68-A511-5CF4B8B4BD90}" destId="{C84EBAA0-44AC-4B6A-9404-4F87800DAF78}" srcOrd="0" destOrd="0" presId="urn:microsoft.com/office/officeart/2005/8/layout/list1"/>
    <dgm:cxn modelId="{27A91221-C19C-4E2A-B75D-9E661CE8CCDB}" type="presOf" srcId="{5D74A2E5-E86C-458E-B619-7C59B6AA8541}" destId="{1D8D2596-1022-49D2-B36A-3298A148F696}" srcOrd="0" destOrd="0" presId="urn:microsoft.com/office/officeart/2005/8/layout/list1"/>
    <dgm:cxn modelId="{F56A6C60-7B01-4396-A175-18CA87EC155E}" type="presOf" srcId="{226194DA-C365-466F-8ED1-A1A027E20007}" destId="{0BBC4BC2-A2A2-451F-9761-5FE20C33E4FE}" srcOrd="1" destOrd="0" presId="urn:microsoft.com/office/officeart/2005/8/layout/list1"/>
    <dgm:cxn modelId="{69CF13F3-55DD-4891-A81A-3480A8B9D0F2}" srcId="{5D74A2E5-E86C-458E-B619-7C59B6AA8541}" destId="{90053126-2F2F-410B-9B57-A8A93DC2E675}" srcOrd="3" destOrd="0" parTransId="{466622E3-AB33-4DA0-9C25-2D634CD1575B}" sibTransId="{E9C3DE04-403F-4FB6-89DB-9F00B90C0C62}"/>
    <dgm:cxn modelId="{200B0BF2-8F8A-4F43-8756-38153550B9AF}" srcId="{5D74A2E5-E86C-458E-B619-7C59B6AA8541}" destId="{48328B96-25CC-42D5-9041-FF7E492FE47E}" srcOrd="4" destOrd="0" parTransId="{0D3F711C-7FAB-433C-BC21-549DB7CE8A86}" sibTransId="{93BB0911-1F73-4F94-A111-71673A5751A2}"/>
    <dgm:cxn modelId="{FB54571F-E99C-420B-8641-99C665BCA670}" type="presOf" srcId="{90053126-2F2F-410B-9B57-A8A93DC2E675}" destId="{495FCD0E-0B7A-46A9-9D3E-26613CD2DA44}" srcOrd="1" destOrd="0" presId="urn:microsoft.com/office/officeart/2005/8/layout/list1"/>
    <dgm:cxn modelId="{69E4C0DD-319A-4BE1-9B7F-D49FD575DE6F}" srcId="{5D74A2E5-E86C-458E-B619-7C59B6AA8541}" destId="{226194DA-C365-466F-8ED1-A1A027E20007}" srcOrd="0" destOrd="0" parTransId="{2E833176-BEDF-45B7-9F8A-0648F3312A9F}" sibTransId="{40B0B770-CE47-4E72-ADAE-A4F69007BA1E}"/>
    <dgm:cxn modelId="{D4321F37-9212-421D-9A5C-178E230FFDD4}" type="presOf" srcId="{90053126-2F2F-410B-9B57-A8A93DC2E675}" destId="{870D827E-A312-4783-881D-513893365AB8}" srcOrd="0" destOrd="0" presId="urn:microsoft.com/office/officeart/2005/8/layout/list1"/>
    <dgm:cxn modelId="{1F9EB983-360C-49CA-AA74-2B4E3D67BFA9}" type="presOf" srcId="{03C1B186-1D24-4B68-A511-5CF4B8B4BD90}" destId="{AD5E33E7-8944-4E93-A3FB-F501DD12D50D}" srcOrd="1" destOrd="0" presId="urn:microsoft.com/office/officeart/2005/8/layout/list1"/>
    <dgm:cxn modelId="{10834495-DBC5-4C5A-8322-01969DBFCE5D}" type="presOf" srcId="{48328B96-25CC-42D5-9041-FF7E492FE47E}" destId="{91535265-7594-44B4-B395-3DC071598667}" srcOrd="0" destOrd="0" presId="urn:microsoft.com/office/officeart/2005/8/layout/list1"/>
    <dgm:cxn modelId="{AD2997FB-3510-4A39-8B16-941F1DA9D416}" type="presParOf" srcId="{1D8D2596-1022-49D2-B36A-3298A148F696}" destId="{6525E960-0FD0-42EA-914D-DDAEC206C06D}" srcOrd="0" destOrd="0" presId="urn:microsoft.com/office/officeart/2005/8/layout/list1"/>
    <dgm:cxn modelId="{51BE4950-EAFB-4CE0-A4D8-46BC75214FA4}" type="presParOf" srcId="{6525E960-0FD0-42EA-914D-DDAEC206C06D}" destId="{9F417E28-4D3D-4E7F-8FFC-0E4AC424D823}" srcOrd="0" destOrd="0" presId="urn:microsoft.com/office/officeart/2005/8/layout/list1"/>
    <dgm:cxn modelId="{5210BC6B-41D2-4F15-88EF-3770B92FB93A}" type="presParOf" srcId="{6525E960-0FD0-42EA-914D-DDAEC206C06D}" destId="{0BBC4BC2-A2A2-451F-9761-5FE20C33E4FE}" srcOrd="1" destOrd="0" presId="urn:microsoft.com/office/officeart/2005/8/layout/list1"/>
    <dgm:cxn modelId="{546A435C-C270-4FB0-A106-F10C030496BD}" type="presParOf" srcId="{1D8D2596-1022-49D2-B36A-3298A148F696}" destId="{43400367-C102-4C35-8BC5-34276A793319}" srcOrd="1" destOrd="0" presId="urn:microsoft.com/office/officeart/2005/8/layout/list1"/>
    <dgm:cxn modelId="{E104D6FA-E236-4B60-AE10-0F44215CEFED}" type="presParOf" srcId="{1D8D2596-1022-49D2-B36A-3298A148F696}" destId="{097EB689-A004-48DB-854B-92D0EE94C769}" srcOrd="2" destOrd="0" presId="urn:microsoft.com/office/officeart/2005/8/layout/list1"/>
    <dgm:cxn modelId="{5ACCC1F2-A00D-4318-8096-EE2B99A2FC53}" type="presParOf" srcId="{1D8D2596-1022-49D2-B36A-3298A148F696}" destId="{820F6194-2D83-4E42-9850-50245796C3C0}" srcOrd="3" destOrd="0" presId="urn:microsoft.com/office/officeart/2005/8/layout/list1"/>
    <dgm:cxn modelId="{2A2236FD-BA42-47D6-831B-56D657406D63}" type="presParOf" srcId="{1D8D2596-1022-49D2-B36A-3298A148F696}" destId="{560DE406-A244-475C-8FF3-92D29CB087DF}" srcOrd="4" destOrd="0" presId="urn:microsoft.com/office/officeart/2005/8/layout/list1"/>
    <dgm:cxn modelId="{90A6BE25-DA68-40FB-B37A-6CE59D11F655}" type="presParOf" srcId="{560DE406-A244-475C-8FF3-92D29CB087DF}" destId="{6B7F0B8A-C4C6-4EE5-8194-41B694E221AF}" srcOrd="0" destOrd="0" presId="urn:microsoft.com/office/officeart/2005/8/layout/list1"/>
    <dgm:cxn modelId="{CB88B031-3477-4C27-8B95-A804F47C3ED9}" type="presParOf" srcId="{560DE406-A244-475C-8FF3-92D29CB087DF}" destId="{D3D34603-A871-4CCC-B0AA-27D730ABF7B7}" srcOrd="1" destOrd="0" presId="urn:microsoft.com/office/officeart/2005/8/layout/list1"/>
    <dgm:cxn modelId="{37D912DE-E9B4-4026-A522-A33516120F21}" type="presParOf" srcId="{1D8D2596-1022-49D2-B36A-3298A148F696}" destId="{354709C9-33F7-4D5B-8331-982611E1E04B}" srcOrd="5" destOrd="0" presId="urn:microsoft.com/office/officeart/2005/8/layout/list1"/>
    <dgm:cxn modelId="{171C308D-F878-4F6F-8ACB-87F9E543671A}" type="presParOf" srcId="{1D8D2596-1022-49D2-B36A-3298A148F696}" destId="{2290BA4A-2840-4F74-9747-7C99C24B8AF7}" srcOrd="6" destOrd="0" presId="urn:microsoft.com/office/officeart/2005/8/layout/list1"/>
    <dgm:cxn modelId="{765AC916-E109-4AA1-9A10-F914C345F6CF}" type="presParOf" srcId="{1D8D2596-1022-49D2-B36A-3298A148F696}" destId="{5C3AAAC4-9CA7-49D8-85B2-093ABD79300D}" srcOrd="7" destOrd="0" presId="urn:microsoft.com/office/officeart/2005/8/layout/list1"/>
    <dgm:cxn modelId="{6D217D0C-0FCA-437B-A963-D0D71BA32CDF}" type="presParOf" srcId="{1D8D2596-1022-49D2-B36A-3298A148F696}" destId="{99534CC2-C037-4BD9-8BA9-7313AED6EC5E}" srcOrd="8" destOrd="0" presId="urn:microsoft.com/office/officeart/2005/8/layout/list1"/>
    <dgm:cxn modelId="{523CBF35-09E4-4D8E-AF78-3C87CC7F9B66}" type="presParOf" srcId="{99534CC2-C037-4BD9-8BA9-7313AED6EC5E}" destId="{C84EBAA0-44AC-4B6A-9404-4F87800DAF78}" srcOrd="0" destOrd="0" presId="urn:microsoft.com/office/officeart/2005/8/layout/list1"/>
    <dgm:cxn modelId="{E8AC4E07-9B53-410B-8751-A79A41EB2B29}" type="presParOf" srcId="{99534CC2-C037-4BD9-8BA9-7313AED6EC5E}" destId="{AD5E33E7-8944-4E93-A3FB-F501DD12D50D}" srcOrd="1" destOrd="0" presId="urn:microsoft.com/office/officeart/2005/8/layout/list1"/>
    <dgm:cxn modelId="{FCFA325E-7062-4FF8-870B-917EA71D9A14}" type="presParOf" srcId="{1D8D2596-1022-49D2-B36A-3298A148F696}" destId="{71F2FD45-83B7-452C-B131-72E5250ED6E4}" srcOrd="9" destOrd="0" presId="urn:microsoft.com/office/officeart/2005/8/layout/list1"/>
    <dgm:cxn modelId="{407D4765-686D-4A17-8AE8-6EA836EA00CC}" type="presParOf" srcId="{1D8D2596-1022-49D2-B36A-3298A148F696}" destId="{6C3CB1C7-AA51-47E2-9A0D-A3FAD504461F}" srcOrd="10" destOrd="0" presId="urn:microsoft.com/office/officeart/2005/8/layout/list1"/>
    <dgm:cxn modelId="{10F07842-E1CF-4FDD-8B71-A9FCF05063B3}" type="presParOf" srcId="{1D8D2596-1022-49D2-B36A-3298A148F696}" destId="{87A98867-4BF4-4729-9C86-01FC01B5FCE6}" srcOrd="11" destOrd="0" presId="urn:microsoft.com/office/officeart/2005/8/layout/list1"/>
    <dgm:cxn modelId="{057E6E67-3810-4B52-9B9C-E74696435248}" type="presParOf" srcId="{1D8D2596-1022-49D2-B36A-3298A148F696}" destId="{CB81A0F5-D14E-49B6-AD4F-A630492004C8}" srcOrd="12" destOrd="0" presId="urn:microsoft.com/office/officeart/2005/8/layout/list1"/>
    <dgm:cxn modelId="{3C33B76C-18AD-4351-A128-4ECEC46E2D83}" type="presParOf" srcId="{CB81A0F5-D14E-49B6-AD4F-A630492004C8}" destId="{870D827E-A312-4783-881D-513893365AB8}" srcOrd="0" destOrd="0" presId="urn:microsoft.com/office/officeart/2005/8/layout/list1"/>
    <dgm:cxn modelId="{1DEE8244-81D4-4C61-A472-1107421F4608}" type="presParOf" srcId="{CB81A0F5-D14E-49B6-AD4F-A630492004C8}" destId="{495FCD0E-0B7A-46A9-9D3E-26613CD2DA44}" srcOrd="1" destOrd="0" presId="urn:microsoft.com/office/officeart/2005/8/layout/list1"/>
    <dgm:cxn modelId="{D6623BB0-D888-4FF7-940A-E2A09A90346B}" type="presParOf" srcId="{1D8D2596-1022-49D2-B36A-3298A148F696}" destId="{B68B7597-07F7-418C-BABD-89CF08BFB67B}" srcOrd="13" destOrd="0" presId="urn:microsoft.com/office/officeart/2005/8/layout/list1"/>
    <dgm:cxn modelId="{C7B45496-02AF-4124-A8EC-8ADE20509793}" type="presParOf" srcId="{1D8D2596-1022-49D2-B36A-3298A148F696}" destId="{A4673CFF-A832-4A73-BE27-92A04ADE9453}" srcOrd="14" destOrd="0" presId="urn:microsoft.com/office/officeart/2005/8/layout/list1"/>
    <dgm:cxn modelId="{96F7D99D-848D-4124-A9E6-B6068DBC38C1}" type="presParOf" srcId="{1D8D2596-1022-49D2-B36A-3298A148F696}" destId="{E2F797BD-B096-4DCE-A2E0-0825505507BF}" srcOrd="15" destOrd="0" presId="urn:microsoft.com/office/officeart/2005/8/layout/list1"/>
    <dgm:cxn modelId="{9D2B1CE2-FE4A-4187-98BB-ED4F0B490A0D}" type="presParOf" srcId="{1D8D2596-1022-49D2-B36A-3298A148F696}" destId="{3F826202-972F-4998-9CF8-3AFF9F17CEBA}" srcOrd="16" destOrd="0" presId="urn:microsoft.com/office/officeart/2005/8/layout/list1"/>
    <dgm:cxn modelId="{FE26AB0A-B818-4ECB-817F-3B766D79FCCD}" type="presParOf" srcId="{3F826202-972F-4998-9CF8-3AFF9F17CEBA}" destId="{91535265-7594-44B4-B395-3DC071598667}" srcOrd="0" destOrd="0" presId="urn:microsoft.com/office/officeart/2005/8/layout/list1"/>
    <dgm:cxn modelId="{EAC7443F-1266-4033-AE13-79E396AFAD16}" type="presParOf" srcId="{3F826202-972F-4998-9CF8-3AFF9F17CEBA}" destId="{4B9BB0C9-D3CD-4510-B0B5-3FD968B85575}" srcOrd="1" destOrd="0" presId="urn:microsoft.com/office/officeart/2005/8/layout/list1"/>
    <dgm:cxn modelId="{CAB85424-17A4-455E-81D3-0BE8B45068D7}" type="presParOf" srcId="{1D8D2596-1022-49D2-B36A-3298A148F696}" destId="{18782A7D-A223-4663-9FDC-E59BC4D4A860}" srcOrd="17" destOrd="0" presId="urn:microsoft.com/office/officeart/2005/8/layout/list1"/>
    <dgm:cxn modelId="{EE6D30AB-6273-4F97-AC1E-3323DF207205}" type="presParOf" srcId="{1D8D2596-1022-49D2-B36A-3298A148F696}" destId="{77E3F82F-751C-4A84-B47B-BBA28CD78176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7967EB-F850-420E-83F0-0ED0EB35030D}">
      <dsp:nvSpPr>
        <dsp:cNvPr id="0" name=""/>
        <dsp:cNvSpPr/>
      </dsp:nvSpPr>
      <dsp:spPr>
        <a:xfrm>
          <a:off x="0" y="3523275"/>
          <a:ext cx="6343650" cy="115641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File System Redux: Modern End-User Productivity Tools </a:t>
          </a:r>
          <a:endParaRPr lang="en-CA" sz="2100" kern="1200"/>
        </a:p>
      </dsp:txBody>
      <dsp:txXfrm>
        <a:off x="0" y="3523275"/>
        <a:ext cx="6343650" cy="624465"/>
      </dsp:txXfrm>
    </dsp:sp>
    <dsp:sp modelId="{72BA0602-0EDA-4ED1-8915-A7433C7D4E4B}">
      <dsp:nvSpPr>
        <dsp:cNvPr id="0" name=""/>
        <dsp:cNvSpPr/>
      </dsp:nvSpPr>
      <dsp:spPr>
        <a:xfrm>
          <a:off x="0" y="4124612"/>
          <a:ext cx="6343650" cy="53195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Includes </a:t>
          </a:r>
          <a:r>
            <a:rPr lang="en-CA" sz="1700" kern="1200"/>
            <a:t>spreadsheet programs such as Microsoft Excel</a:t>
          </a:r>
        </a:p>
      </dsp:txBody>
      <dsp:txXfrm>
        <a:off x="0" y="4124612"/>
        <a:ext cx="6343650" cy="531952"/>
      </dsp:txXfrm>
    </dsp:sp>
    <dsp:sp modelId="{8C82CCEF-8287-4F59-9206-F89DC412D666}">
      <dsp:nvSpPr>
        <dsp:cNvPr id="0" name=""/>
        <dsp:cNvSpPr/>
      </dsp:nvSpPr>
      <dsp:spPr>
        <a:xfrm rot="10800000">
          <a:off x="0" y="1762051"/>
          <a:ext cx="6343650" cy="1778570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Computerized File Systems</a:t>
          </a:r>
          <a:endParaRPr lang="en-CA" sz="2100" kern="1200"/>
        </a:p>
      </dsp:txBody>
      <dsp:txXfrm rot="-10800000">
        <a:off x="0" y="1762051"/>
        <a:ext cx="6343650" cy="624278"/>
      </dsp:txXfrm>
    </dsp:sp>
    <dsp:sp modelId="{F056D08D-82DC-48A4-80AC-2E8D8D60D3B5}">
      <dsp:nvSpPr>
        <dsp:cNvPr id="0" name=""/>
        <dsp:cNvSpPr/>
      </dsp:nvSpPr>
      <dsp:spPr>
        <a:xfrm>
          <a:off x="0" y="2386329"/>
          <a:ext cx="6343650" cy="53179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/>
            <a:t>Data processing (DP) specialist</a:t>
          </a:r>
          <a:r>
            <a:rPr lang="en-US" sz="1700" kern="1200" dirty="0"/>
            <a:t>: </a:t>
          </a:r>
          <a:r>
            <a:rPr lang="en-CA" sz="1700" kern="1200" dirty="0"/>
            <a:t>Created a computer-based system that would track data and produce required reports</a:t>
          </a:r>
        </a:p>
      </dsp:txBody>
      <dsp:txXfrm>
        <a:off x="0" y="2386329"/>
        <a:ext cx="6343650" cy="531792"/>
      </dsp:txXfrm>
    </dsp:sp>
    <dsp:sp modelId="{102B6564-8973-4585-9A6E-FC0242DE274A}">
      <dsp:nvSpPr>
        <dsp:cNvPr id="0" name=""/>
        <dsp:cNvSpPr/>
      </dsp:nvSpPr>
      <dsp:spPr>
        <a:xfrm rot="10800000">
          <a:off x="0" y="827"/>
          <a:ext cx="6343650" cy="1778570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Manual File Systems</a:t>
          </a:r>
          <a:endParaRPr lang="en-CA" sz="2100" kern="1200" dirty="0"/>
        </a:p>
      </dsp:txBody>
      <dsp:txXfrm rot="-10800000">
        <a:off x="0" y="827"/>
        <a:ext cx="6343650" cy="624278"/>
      </dsp:txXfrm>
    </dsp:sp>
    <dsp:sp modelId="{C4E80382-58C0-4FAA-AAB1-91945958B6DA}">
      <dsp:nvSpPr>
        <dsp:cNvPr id="0" name=""/>
        <dsp:cNvSpPr/>
      </dsp:nvSpPr>
      <dsp:spPr>
        <a:xfrm>
          <a:off x="0" y="625105"/>
          <a:ext cx="6343650" cy="53179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CA" sz="1700" kern="1200" dirty="0"/>
            <a:t>Accomplished through a system of file folders and filing cabinets</a:t>
          </a:r>
        </a:p>
      </dsp:txBody>
      <dsp:txXfrm>
        <a:off x="0" y="625105"/>
        <a:ext cx="6343650" cy="5317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7EB689-A004-48DB-854B-92D0EE94C769}">
      <dsp:nvSpPr>
        <dsp:cNvPr id="0" name=""/>
        <dsp:cNvSpPr/>
      </dsp:nvSpPr>
      <dsp:spPr>
        <a:xfrm>
          <a:off x="0" y="454615"/>
          <a:ext cx="7086600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BC4BC2-A2A2-451F-9761-5FE20C33E4FE}">
      <dsp:nvSpPr>
        <dsp:cNvPr id="0" name=""/>
        <dsp:cNvSpPr/>
      </dsp:nvSpPr>
      <dsp:spPr>
        <a:xfrm>
          <a:off x="354330" y="144655"/>
          <a:ext cx="4960620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7500" tIns="0" rIns="187500" bIns="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Lengthy development times</a:t>
          </a:r>
        </a:p>
      </dsp:txBody>
      <dsp:txXfrm>
        <a:off x="384592" y="174917"/>
        <a:ext cx="4900096" cy="559396"/>
      </dsp:txXfrm>
    </dsp:sp>
    <dsp:sp modelId="{2290BA4A-2840-4F74-9747-7C99C24B8AF7}">
      <dsp:nvSpPr>
        <dsp:cNvPr id="0" name=""/>
        <dsp:cNvSpPr/>
      </dsp:nvSpPr>
      <dsp:spPr>
        <a:xfrm>
          <a:off x="0" y="1407175"/>
          <a:ext cx="7086600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D34603-A871-4CCC-B0AA-27D730ABF7B7}">
      <dsp:nvSpPr>
        <dsp:cNvPr id="0" name=""/>
        <dsp:cNvSpPr/>
      </dsp:nvSpPr>
      <dsp:spPr>
        <a:xfrm>
          <a:off x="354330" y="1097215"/>
          <a:ext cx="4960620" cy="6199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7500" tIns="0" rIns="187500" bIns="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100" kern="1200" dirty="0">
              <a:ea typeface="ＭＳ Ｐゴシック" charset="-128"/>
            </a:rPr>
            <a:t>Difficulty of getting quick answers</a:t>
          </a:r>
          <a:endParaRPr lang="en-US" sz="2100" kern="1200" dirty="0"/>
        </a:p>
      </dsp:txBody>
      <dsp:txXfrm>
        <a:off x="384592" y="1127477"/>
        <a:ext cx="4900096" cy="559396"/>
      </dsp:txXfrm>
    </dsp:sp>
    <dsp:sp modelId="{6C3CB1C7-AA51-47E2-9A0D-A3FAD504461F}">
      <dsp:nvSpPr>
        <dsp:cNvPr id="0" name=""/>
        <dsp:cNvSpPr/>
      </dsp:nvSpPr>
      <dsp:spPr>
        <a:xfrm>
          <a:off x="0" y="2359736"/>
          <a:ext cx="7086600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5E33E7-8944-4E93-A3FB-F501DD12D50D}">
      <dsp:nvSpPr>
        <dsp:cNvPr id="0" name=""/>
        <dsp:cNvSpPr/>
      </dsp:nvSpPr>
      <dsp:spPr>
        <a:xfrm>
          <a:off x="335940" y="2054493"/>
          <a:ext cx="4960620" cy="6199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7500" tIns="0" rIns="187500" bIns="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100" kern="1200" dirty="0">
              <a:ea typeface="ＭＳ Ｐゴシック" charset="-128"/>
            </a:rPr>
            <a:t>Complex system administration</a:t>
          </a:r>
          <a:endParaRPr lang="en-US" sz="2100" kern="1200" dirty="0"/>
        </a:p>
      </dsp:txBody>
      <dsp:txXfrm>
        <a:off x="366202" y="2084755"/>
        <a:ext cx="4900096" cy="559396"/>
      </dsp:txXfrm>
    </dsp:sp>
    <dsp:sp modelId="{A4673CFF-A832-4A73-BE27-92A04ADE9453}">
      <dsp:nvSpPr>
        <dsp:cNvPr id="0" name=""/>
        <dsp:cNvSpPr/>
      </dsp:nvSpPr>
      <dsp:spPr>
        <a:xfrm>
          <a:off x="0" y="3312296"/>
          <a:ext cx="7086600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5FCD0E-0B7A-46A9-9D3E-26613CD2DA44}">
      <dsp:nvSpPr>
        <dsp:cNvPr id="0" name=""/>
        <dsp:cNvSpPr/>
      </dsp:nvSpPr>
      <dsp:spPr>
        <a:xfrm>
          <a:off x="354330" y="3002336"/>
          <a:ext cx="4960620" cy="6199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7500" tIns="0" rIns="187500" bIns="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100" kern="1200" dirty="0">
              <a:ea typeface="ＭＳ Ｐゴシック" charset="-128"/>
            </a:rPr>
            <a:t>Lack of security and limited data sharing</a:t>
          </a:r>
          <a:endParaRPr lang="en-US" sz="2100" kern="1200" dirty="0"/>
        </a:p>
      </dsp:txBody>
      <dsp:txXfrm>
        <a:off x="384592" y="3032598"/>
        <a:ext cx="4900096" cy="559396"/>
      </dsp:txXfrm>
    </dsp:sp>
    <dsp:sp modelId="{77E3F82F-751C-4A84-B47B-BBA28CD78176}">
      <dsp:nvSpPr>
        <dsp:cNvPr id="0" name=""/>
        <dsp:cNvSpPr/>
      </dsp:nvSpPr>
      <dsp:spPr>
        <a:xfrm>
          <a:off x="0" y="4264856"/>
          <a:ext cx="7086600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9BB0C9-D3CD-4510-B0B5-3FD968B85575}">
      <dsp:nvSpPr>
        <dsp:cNvPr id="0" name=""/>
        <dsp:cNvSpPr/>
      </dsp:nvSpPr>
      <dsp:spPr>
        <a:xfrm>
          <a:off x="354330" y="3954896"/>
          <a:ext cx="4960620" cy="61992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7500" tIns="0" rIns="187500" bIns="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100" kern="1200" dirty="0">
              <a:ea typeface="ＭＳ Ｐゴシック" charset="-128"/>
            </a:rPr>
            <a:t>Extensive programming</a:t>
          </a:r>
          <a:endParaRPr lang="en-US" sz="2100" kern="1200" dirty="0"/>
        </a:p>
      </dsp:txBody>
      <dsp:txXfrm>
        <a:off x="384592" y="3985158"/>
        <a:ext cx="4900096" cy="559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C6A31D20-EBFF-074E-9620-67217DAD207B}" type="datetimeFigureOut">
              <a:rPr lang="en-US"/>
              <a:pPr>
                <a:defRPr/>
              </a:pPr>
              <a:t>5/9/2025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34E8E52F-266B-B843-B8D0-A803033302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266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8134BC3B-9A32-F44A-8C40-A92B42FD1AF1}" type="datetimeFigureOut">
              <a:rPr lang="en-US"/>
              <a:pPr>
                <a:defRPr/>
              </a:pPr>
              <a:t>5/9/2025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76C71001-DACF-FB48-91A8-8F28CB2BD8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524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C71001-DACF-FB48-91A8-8F28CB2BD8D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644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3CAF12B-CB61-49E1-B017-69E996641A34}" type="slidenum">
              <a:rPr lang="en-US" altLang="en-US" sz="1200">
                <a:latin typeface="Times New Roman" panose="02020603050405020304" pitchFamily="18" charset="0"/>
              </a:rPr>
              <a:pPr/>
              <a:t>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156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of the popular </a:t>
            </a:r>
            <a:r>
              <a:rPr lang="en-US" dirty="0" err="1"/>
              <a:t>NoSQL</a:t>
            </a:r>
            <a:r>
              <a:rPr lang="en-US" dirty="0"/>
              <a:t> database used by big websites (Google, Facebook, Twitter, </a:t>
            </a:r>
            <a:r>
              <a:rPr lang="en-US" dirty="0" err="1"/>
              <a:t>Lindle</a:t>
            </a:r>
            <a:r>
              <a:rPr lang="en-US" dirty="0"/>
              <a:t>) are (check from https://</a:t>
            </a:r>
            <a:r>
              <a:rPr lang="en-US" dirty="0" err="1"/>
              <a:t>stackshare.io</a:t>
            </a:r>
            <a:r>
              <a:rPr lang="en-US" dirty="0"/>
              <a:t>/</a:t>
            </a:r>
            <a:r>
              <a:rPr lang="en-US" dirty="0" err="1"/>
              <a:t>facebook</a:t>
            </a:r>
            <a:r>
              <a:rPr lang="en-US" dirty="0"/>
              <a:t>/</a:t>
            </a:r>
            <a:r>
              <a:rPr lang="en-US" dirty="0" err="1"/>
              <a:t>facebook</a:t>
            </a:r>
            <a:r>
              <a:rPr lang="en-US" dirty="0"/>
              <a:t>):</a:t>
            </a:r>
          </a:p>
          <a:p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 err="1"/>
              <a:t>Hadoop</a:t>
            </a:r>
            <a:r>
              <a:rPr lang="en-US" dirty="0"/>
              <a:t> </a:t>
            </a:r>
            <a:r>
              <a:rPr lang="en-US" dirty="0" err="1"/>
              <a:t>Hbase</a:t>
            </a:r>
            <a:r>
              <a:rPr lang="en-US" dirty="0"/>
              <a:t> (Twitter)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 err="1"/>
              <a:t>MongoDB</a:t>
            </a: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Cassandra  (Facebook,)</a:t>
            </a:r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 err="1"/>
              <a:t>Redis</a:t>
            </a:r>
            <a:r>
              <a:rPr lang="en-US" dirty="0"/>
              <a:t> (Twitter)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Amazon’s </a:t>
            </a:r>
            <a:r>
              <a:rPr lang="en-US" dirty="0" err="1"/>
              <a:t>DynamoDB</a:t>
            </a:r>
            <a:r>
              <a:rPr lang="en-US" dirty="0"/>
              <a:t> (</a:t>
            </a:r>
            <a:r>
              <a:rPr lang="en-US" dirty="0" err="1"/>
              <a:t>Linkedln</a:t>
            </a:r>
            <a:r>
              <a:rPr lang="en-US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Google’s </a:t>
            </a:r>
            <a:r>
              <a:rPr lang="en-US" dirty="0" err="1"/>
              <a:t>BigTable</a:t>
            </a:r>
            <a:endParaRPr lang="en-US" dirty="0"/>
          </a:p>
          <a:p>
            <a:pPr marL="0" indent="0">
              <a:buFont typeface="+mj-lt"/>
              <a:buNone/>
            </a:pPr>
            <a:endParaRPr lang="en-US" dirty="0"/>
          </a:p>
          <a:p>
            <a:pPr marL="0" indent="0">
              <a:buFont typeface="+mj-lt"/>
              <a:buNone/>
            </a:pPr>
            <a:r>
              <a:rPr lang="en-US" dirty="0"/>
              <a:t>The main reasons for using these </a:t>
            </a:r>
            <a:r>
              <a:rPr lang="en-US" dirty="0" err="1"/>
              <a:t>NoSQL</a:t>
            </a:r>
            <a:r>
              <a:rPr lang="en-US" dirty="0"/>
              <a:t> databases are:</a:t>
            </a:r>
          </a:p>
          <a:p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Ability to handle unlimited data: Imagine the amount of data generated by 1 billion users of Facebook, Google etc.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Real time Data Stream processing needs: These all websites are on top of their game in real-time feeds and machine learning.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Use of commodity hardware to run </a:t>
            </a:r>
            <a:r>
              <a:rPr lang="en-US" dirty="0" err="1"/>
              <a:t>NoSQL</a:t>
            </a:r>
            <a:r>
              <a:rPr lang="en-US" dirty="0"/>
              <a:t> database: None of these websites want to get locked into specialized hardware from an infra-structure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3CFBB-B6EE-C542-944E-EA02434BE94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679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of the popular </a:t>
            </a:r>
            <a:r>
              <a:rPr lang="en-US" dirty="0" err="1"/>
              <a:t>NoSQL</a:t>
            </a:r>
            <a:r>
              <a:rPr lang="en-US" dirty="0"/>
              <a:t> database used by big websites (Google, Facebook, Twitter, </a:t>
            </a:r>
            <a:r>
              <a:rPr lang="en-US" dirty="0" err="1"/>
              <a:t>Lindle</a:t>
            </a:r>
            <a:r>
              <a:rPr lang="en-US" dirty="0"/>
              <a:t>) are (check from https://</a:t>
            </a:r>
            <a:r>
              <a:rPr lang="en-US" dirty="0" err="1"/>
              <a:t>stackshare.io</a:t>
            </a:r>
            <a:r>
              <a:rPr lang="en-US" dirty="0"/>
              <a:t>/</a:t>
            </a:r>
            <a:r>
              <a:rPr lang="en-US" dirty="0" err="1"/>
              <a:t>facebook</a:t>
            </a:r>
            <a:r>
              <a:rPr lang="en-US" dirty="0"/>
              <a:t>/</a:t>
            </a:r>
            <a:r>
              <a:rPr lang="en-US" dirty="0" err="1"/>
              <a:t>facebook</a:t>
            </a:r>
            <a:r>
              <a:rPr lang="en-US" dirty="0"/>
              <a:t>):</a:t>
            </a:r>
          </a:p>
          <a:p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 err="1"/>
              <a:t>Hadoop</a:t>
            </a:r>
            <a:r>
              <a:rPr lang="en-US" dirty="0"/>
              <a:t> </a:t>
            </a:r>
            <a:r>
              <a:rPr lang="en-US" dirty="0" err="1"/>
              <a:t>Hbase</a:t>
            </a:r>
            <a:r>
              <a:rPr lang="en-US" dirty="0"/>
              <a:t> (Twitter)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 err="1"/>
              <a:t>MongoDB</a:t>
            </a: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Cassandra  (Facebook,)</a:t>
            </a:r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 err="1"/>
              <a:t>Redis</a:t>
            </a:r>
            <a:r>
              <a:rPr lang="en-US" dirty="0"/>
              <a:t> (Twitter)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Amazon’s </a:t>
            </a:r>
            <a:r>
              <a:rPr lang="en-US" dirty="0" err="1"/>
              <a:t>DynamoDB</a:t>
            </a:r>
            <a:r>
              <a:rPr lang="en-US" dirty="0"/>
              <a:t> (</a:t>
            </a:r>
            <a:r>
              <a:rPr lang="en-US" dirty="0" err="1"/>
              <a:t>Linkedln</a:t>
            </a:r>
            <a:r>
              <a:rPr lang="en-US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Google’s </a:t>
            </a:r>
            <a:r>
              <a:rPr lang="en-US" dirty="0" err="1"/>
              <a:t>BigTable</a:t>
            </a:r>
            <a:endParaRPr lang="en-US" dirty="0"/>
          </a:p>
          <a:p>
            <a:pPr marL="0" indent="0">
              <a:buFont typeface="+mj-lt"/>
              <a:buNone/>
            </a:pPr>
            <a:endParaRPr lang="en-US" dirty="0"/>
          </a:p>
          <a:p>
            <a:pPr marL="0" indent="0">
              <a:buFont typeface="+mj-lt"/>
              <a:buNone/>
            </a:pPr>
            <a:r>
              <a:rPr lang="en-US" dirty="0"/>
              <a:t>The main reasons for using these </a:t>
            </a:r>
            <a:r>
              <a:rPr lang="en-US" dirty="0" err="1"/>
              <a:t>NoSQL</a:t>
            </a:r>
            <a:r>
              <a:rPr lang="en-US" dirty="0"/>
              <a:t> databases are:</a:t>
            </a:r>
          </a:p>
          <a:p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Ability to handle unlimited data: Imagine the amount of data generated by 1 billion users of Facebook, Google etc.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Real time Data Stream processing needs: These all websites are on top of their game in real-time feeds and machine learning.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Use of commodity hardware to run </a:t>
            </a:r>
            <a:r>
              <a:rPr lang="en-US" dirty="0" err="1"/>
              <a:t>NoSQL</a:t>
            </a:r>
            <a:r>
              <a:rPr lang="en-US" dirty="0"/>
              <a:t> database: None of these websites want to get locked into specialized hardware from an infra-structure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3CFBB-B6EE-C542-944E-EA02434BE94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679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FC0F86-0817-446B-A955-25B15A680B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968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See an example of an</a:t>
            </a:r>
            <a:r>
              <a:rPr lang="en-US" altLang="en-US" baseline="0"/>
              <a:t> AGENT file @Figure 1.6 on the page 16(44).</a:t>
            </a:r>
            <a:endParaRPr lang="en-US" altLang="en-US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B8CB653-CD45-4832-ACA6-A0D362D7A989}" type="slidenum">
              <a:rPr lang="en-US" altLang="en-US" sz="1200">
                <a:latin typeface="Times New Roman" panose="02020603050405020304" pitchFamily="18" charset="0"/>
              </a:rPr>
              <a:pPr/>
              <a:t>16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475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96191E0-EBF9-49F5-A679-3A6C6BCF1F7E}" type="slidenum">
              <a:rPr lang="en-US" altLang="en-US" sz="1200">
                <a:latin typeface="Times New Roman" panose="02020603050405020304" pitchFamily="18" charset="0"/>
              </a:rPr>
              <a:pPr/>
              <a:t>17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093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7A908BF-B8D6-44DB-8A9E-7B5D344868EA}" type="slidenum">
              <a:rPr lang="en-US" altLang="en-US" sz="1200">
                <a:latin typeface="Times New Roman" panose="02020603050405020304" pitchFamily="18" charset="0"/>
              </a:rPr>
              <a:pPr/>
              <a:t>18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647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01EB7B5-1509-412D-967A-AEA1967F06A2}" type="slidenum">
              <a:rPr lang="en-US" altLang="en-US" sz="1200">
                <a:latin typeface="Times New Roman" panose="02020603050405020304" pitchFamily="18" charset="0"/>
              </a:rPr>
              <a:pPr/>
              <a:t>19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508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6890110-BE78-4923-9F3F-3B65314EDA36}" type="slidenum">
              <a:rPr lang="en-US" altLang="en-US" sz="1200">
                <a:latin typeface="Times New Roman" panose="02020603050405020304" pitchFamily="18" charset="0"/>
              </a:rPr>
              <a:pPr/>
              <a:t>20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757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FB24DFC-10A1-44BB-B9B1-054C9362C755}" type="slidenum">
              <a:rPr lang="en-US" altLang="en-US" sz="1200">
                <a:latin typeface="Times New Roman" panose="02020603050405020304" pitchFamily="18" charset="0"/>
              </a:rPr>
              <a:pPr/>
              <a:t>24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0893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6791788-88B3-481A-9CF4-68B804D93F76}" type="slidenum">
              <a:rPr lang="en-US" altLang="en-US" sz="1200">
                <a:latin typeface="Times New Roman" panose="02020603050405020304" pitchFamily="18" charset="0"/>
              </a:rPr>
              <a:pPr/>
              <a:t>25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6378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B067477-2AA2-41B1-8CF2-00480B0441B5}" type="slidenum">
              <a:rPr lang="en-US" altLang="en-US" sz="1200">
                <a:latin typeface="Times New Roman" panose="02020603050405020304" pitchFamily="18" charset="0"/>
              </a:rPr>
              <a:pPr/>
              <a:t>26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5574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1CA4C39-B6E0-4C1E-AEA5-2129E8AE1AFA}" type="slidenum">
              <a:rPr lang="en-US" altLang="en-US" sz="1200">
                <a:latin typeface="Times New Roman" panose="02020603050405020304" pitchFamily="18" charset="0"/>
              </a:rPr>
              <a:pPr/>
              <a:t>27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709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48DCF2A-DC02-40D8-B85F-FCBDEE1B8712}" type="slidenum">
              <a:rPr lang="en-US" altLang="en-US" sz="1200">
                <a:latin typeface="Times New Roman" panose="02020603050405020304" pitchFamily="18" charset="0"/>
              </a:rPr>
              <a:pPr/>
              <a:t>28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540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80CC233-A0DC-4E4A-AD06-64626026F8AC}" type="slidenum">
              <a:rPr lang="en-US" altLang="en-US" sz="1200">
                <a:latin typeface="Times New Roman" panose="02020603050405020304" pitchFamily="18" charset="0"/>
              </a:rPr>
              <a:pPr/>
              <a:t>29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9542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In semi-structured data, the entities belonging to the same class may have different attributes even though they are grouped together, and the attributes' order is not important.</a:t>
            </a: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5AD4484-8ADB-482A-9798-1DC34A1E10B8}" type="slidenum">
              <a:rPr lang="en-US" altLang="en-US" sz="1200">
                <a:latin typeface="Times New Roman" panose="02020603050405020304" pitchFamily="18" charset="0"/>
              </a:rPr>
              <a:pPr/>
              <a:t>30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3300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48F45A2-4B0C-4E72-B54B-E1DFB43A7385}" type="slidenum">
              <a:rPr lang="en-US" altLang="en-US" sz="1200">
                <a:latin typeface="Times New Roman" panose="02020603050405020304" pitchFamily="18" charset="0"/>
              </a:rPr>
              <a:pPr/>
              <a:t>31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9755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8572BE4-8408-4900-90E7-1FA926B3D439}" type="slidenum">
              <a:rPr lang="en-US" altLang="en-US" sz="1200">
                <a:latin typeface="Times New Roman" panose="02020603050405020304" pitchFamily="18" charset="0"/>
              </a:rPr>
              <a:pPr/>
              <a:t>32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692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B73E4C0-9DBB-4556-94DA-C1CC3E2A365E}" type="slidenum">
              <a:rPr lang="en-US" altLang="en-US" sz="1200">
                <a:latin typeface="Times New Roman" panose="02020603050405020304" pitchFamily="18" charset="0"/>
              </a:rPr>
              <a:pPr/>
              <a:t>33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5446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 From a general management point of view, the database system is composed of the five major parts shown in Figure 1.9: hardware, software, people, procedures, and data.</a:t>
            </a:r>
          </a:p>
          <a:p>
            <a:r>
              <a:rPr lang="en-US" altLang="en-US"/>
              <a:t>Let’s take a closer look at the five components shown in Figure 1.9: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DD56175-73ED-479C-BBA8-DE7988CB99AE}" type="slidenum">
              <a:rPr lang="en-US" altLang="en-US" sz="1200">
                <a:latin typeface="Times New Roman" panose="02020603050405020304" pitchFamily="18" charset="0"/>
              </a:rPr>
              <a:pPr/>
              <a:t>34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722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49C1A1-481B-1D46-AA07-F7086AE5245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70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06921E-B4AC-6943-8138-894207DFCC2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42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B29592-F14E-CE40-9E4A-646F99D9A3E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7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A762A-9D59-6A47-8864-B06EFA448DA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53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31521F-F9FF-8F44-9494-85A125A2F2D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03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93C2F0-B963-DC4C-86FD-C03031F761E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1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8/26/16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Information Systems Department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A0CB71-CCBD-CA42-8700-25F12BEB71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33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8/26/16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Information Systems Department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8A977A-47AA-2041-804B-14911AA22AE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5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8/26/16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Information Systems Department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454845-C8AE-1845-AA26-704A9A3E826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01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8/26/16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Information Systems Department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96F309-63C5-8E41-9067-656511D061D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6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8/26/16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Information Systems Department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7D0861-E8CE-EC4B-BCFC-2FFB624A2EC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13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Shape 62"/>
          <p:cNvGrpSpPr/>
          <p:nvPr/>
        </p:nvGrpSpPr>
        <p:grpSpPr>
          <a:xfrm>
            <a:off x="-4" y="54"/>
            <a:ext cx="7072430" cy="1769753"/>
            <a:chOff x="-4" y="40"/>
            <a:chExt cx="7072430" cy="1327315"/>
          </a:xfrm>
        </p:grpSpPr>
        <p:sp>
          <p:nvSpPr>
            <p:cNvPr id="63" name="Shape 6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64" name="Shape 64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Shape 6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67" name="Shape 6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Shape 6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Shape 6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70" name="Shape 70"/>
          <p:cNvGrpSpPr/>
          <p:nvPr/>
        </p:nvGrpSpPr>
        <p:grpSpPr>
          <a:xfrm>
            <a:off x="6946842" y="5963632"/>
            <a:ext cx="2202830" cy="894393"/>
            <a:chOff x="5575242" y="4472723"/>
            <a:chExt cx="2202830" cy="670795"/>
          </a:xfrm>
        </p:grpSpPr>
        <p:sp>
          <p:nvSpPr>
            <p:cNvPr id="71" name="Shape 71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" name="Shape 7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Shape 7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Shape 7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Shape 7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Shape 7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4924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814275" y="1769800"/>
            <a:ext cx="6132600" cy="41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BB603EFA-0B4C-1A4D-9916-0C45AF9E0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85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8/26/16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mtClean="0"/>
              <a:t>Information Systems Department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0FAA1E4-F518-6040-905F-C59169F726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7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848058"/>
          </a:solidFill>
          <a:latin typeface="+mj-lt"/>
          <a:ea typeface="+mj-ea"/>
          <a:cs typeface="+mj-cs"/>
        </a:defRPr>
      </a:lvl1pPr>
    </p:titleStyle>
    <p:bodyStyle>
      <a:lvl1pPr marL="342900" indent="-342900" algn="just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Times New Roman"/>
          <a:ea typeface="+mn-ea"/>
          <a:cs typeface="Times New Roman"/>
        </a:defRPr>
      </a:lvl1pPr>
      <a:lvl2pPr marL="742950" indent="-285750" algn="just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Times New Roman"/>
          <a:ea typeface="+mn-ea"/>
          <a:cs typeface="Times New Roman"/>
        </a:defRPr>
      </a:lvl2pPr>
      <a:lvl3pPr marL="1143000" indent="-228600" algn="just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3pPr>
      <a:lvl4pPr marL="1600200" indent="-228600" algn="just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Times New Roman"/>
          <a:ea typeface="+mn-ea"/>
          <a:cs typeface="Times New Roman"/>
        </a:defRPr>
      </a:lvl4pPr>
      <a:lvl5pPr marL="2057400" indent="-228600" algn="just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Times New Roman"/>
          <a:ea typeface="+mn-ea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b-engines.com/en/ranking" TargetMode="Externa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088" y="1628775"/>
            <a:ext cx="7129288" cy="2736850"/>
          </a:xfrm>
        </p:spPr>
        <p:txBody>
          <a:bodyPr anchor="ctr">
            <a:normAutofit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4F81BD"/>
                </a:solidFill>
                <a:latin typeface="Verdana" charset="0"/>
                <a:ea typeface="+mj-ea"/>
                <a:cs typeface="+mj-cs"/>
              </a:rPr>
              <a:t>FUNDAMENTALS OF DATABASE SYSTEMS</a:t>
            </a:r>
            <a:br>
              <a:rPr lang="en-US" b="1" dirty="0">
                <a:solidFill>
                  <a:srgbClr val="4F81BD"/>
                </a:solidFill>
                <a:latin typeface="Verdana" charset="0"/>
                <a:ea typeface="+mj-ea"/>
                <a:cs typeface="+mj-cs"/>
              </a:rPr>
            </a:br>
            <a:r>
              <a:rPr lang="en-US" b="1" dirty="0">
                <a:solidFill>
                  <a:srgbClr val="4F81BD"/>
                </a:solidFill>
                <a:latin typeface="Verdana" charset="0"/>
                <a:ea typeface="+mj-ea"/>
                <a:cs typeface="+mj-cs"/>
              </a:rPr>
              <a:t/>
            </a:r>
            <a:br>
              <a:rPr lang="en-US" b="1" dirty="0">
                <a:solidFill>
                  <a:srgbClr val="4F81BD"/>
                </a:solidFill>
                <a:latin typeface="Verdana" charset="0"/>
                <a:ea typeface="+mj-ea"/>
                <a:cs typeface="+mj-cs"/>
              </a:rPr>
            </a:br>
            <a:r>
              <a:rPr lang="en-US" sz="2000" b="1" dirty="0">
                <a:solidFill>
                  <a:srgbClr val="4F81BD"/>
                </a:solidFill>
                <a:latin typeface="Verdana" charset="0"/>
              </a:rPr>
              <a:t>LESSON 1</a:t>
            </a:r>
            <a:r>
              <a:rPr lang="en-US" sz="2000" b="1" dirty="0">
                <a:solidFill>
                  <a:srgbClr val="4F81BD"/>
                </a:solidFill>
                <a:latin typeface="Verdana" charset="0"/>
                <a:ea typeface="+mj-ea"/>
                <a:cs typeface="+mj-cs"/>
              </a:rPr>
              <a:t>: INTRODUCTION</a:t>
            </a:r>
            <a:endParaRPr lang="en-US" sz="2000" b="1" dirty="0">
              <a:solidFill>
                <a:srgbClr val="4F81B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1187624" y="5085184"/>
            <a:ext cx="7094537" cy="728861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 typeface="Wingdings" charset="0"/>
              <a:buNone/>
              <a:defRPr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Verdana" charset="0"/>
                <a:ea typeface="+mn-ea"/>
              </a:rPr>
              <a:t>University of Engineering and Technology, </a:t>
            </a:r>
          </a:p>
          <a:p>
            <a:pPr eaLnBrk="1" fontAlgn="auto" hangingPunct="1">
              <a:spcAft>
                <a:spcPts val="0"/>
              </a:spcAft>
              <a:buFont typeface="Wingdings" charset="0"/>
              <a:buNone/>
              <a:defRPr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Verdana" charset="0"/>
                <a:ea typeface="+mn-ea"/>
              </a:rPr>
              <a:t>Vietnam National </a:t>
            </a: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Verdana" charset="0"/>
              </a:rPr>
              <a:t>U</a:t>
            </a: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Verdana" charset="0"/>
                <a:ea typeface="+mn-ea"/>
              </a:rPr>
              <a:t>niversity in Hanoi (UET-VNU)</a:t>
            </a:r>
          </a:p>
          <a:p>
            <a:pPr eaLnBrk="1" fontAlgn="auto" hangingPunct="1">
              <a:spcAft>
                <a:spcPts val="0"/>
              </a:spcAft>
              <a:buFont typeface="Wingdings" charset="0"/>
              <a:buNone/>
              <a:defRPr/>
            </a:pPr>
            <a:endParaRPr lang="en-US" sz="1400" dirty="0">
              <a:latin typeface="Verdana" charset="0"/>
              <a:ea typeface="+mn-ea"/>
            </a:endParaRPr>
          </a:p>
        </p:txBody>
      </p:sp>
      <p:pic>
        <p:nvPicPr>
          <p:cNvPr id="15363" name="Picture 1" descr="logo-UET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33338"/>
            <a:ext cx="147320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Placeholder 4"/>
          <p:cNvSpPr>
            <a:spLocks noGrp="1"/>
          </p:cNvSpPr>
          <p:nvPr>
            <p:ph type="body" idx="1"/>
          </p:nvPr>
        </p:nvSpPr>
        <p:spPr>
          <a:xfrm>
            <a:off x="642938" y="2357438"/>
            <a:ext cx="7772400" cy="1500187"/>
          </a:xfrm>
        </p:spPr>
        <p:txBody>
          <a:bodyPr rtlCol="0"/>
          <a:lstStyle/>
          <a:p>
            <a:pPr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Verdana" charset="0"/>
                <a:ea typeface="+mn-ea"/>
              </a:rPr>
              <a:t>COURSE OVERVIEW</a:t>
            </a:r>
          </a:p>
        </p:txBody>
      </p:sp>
      <p:sp>
        <p:nvSpPr>
          <p:cNvPr id="16385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smtClean="0">
                <a:latin typeface="Verdana" charset="0"/>
              </a:rPr>
              <a:t>Information Systems Department</a:t>
            </a:r>
            <a:endParaRPr lang="en-US" sz="1200">
              <a:latin typeface="Verdana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A3CED7-124C-D84E-9478-4F0B6F6B197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Part 1: Theory </a:t>
            </a:r>
            <a:r>
              <a:rPr lang="en-US" sz="2800"/>
              <a:t>(</a:t>
            </a:r>
            <a:r>
              <a:rPr lang="en-US" sz="2800" smtClean="0"/>
              <a:t>60</a:t>
            </a:r>
            <a:r>
              <a:rPr lang="en-US" sz="2800"/>
              <a:t>%</a:t>
            </a:r>
            <a:r>
              <a:rPr lang="en-US" sz="2800" smtClean="0"/>
              <a:t>)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Basic concepts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The ER modeling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The relational database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Functional dependency, Normalization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Part 2: Practice </a:t>
            </a:r>
            <a:r>
              <a:rPr lang="en-US" sz="2800" dirty="0"/>
              <a:t>(40%: attendance, assignments, tests)</a:t>
            </a:r>
          </a:p>
          <a:p>
            <a:r>
              <a:rPr lang="en-US" sz="2800" dirty="0"/>
              <a:t>MySQL, week 2-15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AF2264AE-90D9-479E-8532-FB64B142E2D9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29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1" y="1160662"/>
            <a:ext cx="3952875" cy="4329311"/>
          </a:xfrm>
        </p:spPr>
        <p:txBody>
          <a:bodyPr>
            <a:normAutofit/>
          </a:bodyPr>
          <a:lstStyle/>
          <a:p>
            <a:r>
              <a:rPr lang="en-US" sz="2400" dirty="0" err="1"/>
              <a:t>Ramez</a:t>
            </a:r>
            <a:r>
              <a:rPr lang="en-US" sz="2400" dirty="0"/>
              <a:t> </a:t>
            </a:r>
            <a:r>
              <a:rPr lang="en-US" sz="2400" dirty="0" err="1"/>
              <a:t>Elmasri</a:t>
            </a:r>
            <a:r>
              <a:rPr lang="en-US" sz="2400" dirty="0"/>
              <a:t> &amp; </a:t>
            </a:r>
            <a:r>
              <a:rPr lang="en-US" sz="2400" dirty="0" err="1"/>
              <a:t>Shamkant</a:t>
            </a:r>
            <a:r>
              <a:rPr lang="en-US" sz="2400" dirty="0"/>
              <a:t> B. </a:t>
            </a:r>
            <a:r>
              <a:rPr lang="en-US" sz="2400" dirty="0" err="1"/>
              <a:t>Navathe</a:t>
            </a:r>
            <a:r>
              <a:rPr lang="en-US" sz="2400" dirty="0"/>
              <a:t>, Fundamentals of Database Systems, 7th Edition, Pearson 2015.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65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AF2264AE-90D9-479E-8532-FB64B142E2D9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/>
          <a:srcRect l="47832" t="16185" r="19441" b="10121"/>
          <a:stretch/>
        </p:blipFill>
        <p:spPr>
          <a:xfrm>
            <a:off x="6090313" y="1553286"/>
            <a:ext cx="2425037" cy="3070159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750" y="1160662"/>
            <a:ext cx="382905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691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 hottest IT positions 2019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smtClean="0"/>
              <a:t>Information Systems Department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06921E-B4AC-6943-8138-894207DFCC2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004048" y="5445224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[</a:t>
            </a:r>
            <a:r>
              <a:rPr lang="en-US" i="1" dirty="0" err="1"/>
              <a:t>Glassdoor.com</a:t>
            </a:r>
            <a:r>
              <a:rPr lang="en-US" i="1" dirty="0"/>
              <a:t>]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4574708"/>
              </p:ext>
            </p:extLst>
          </p:nvPr>
        </p:nvGraphicFramePr>
        <p:xfrm>
          <a:off x="539552" y="1628800"/>
          <a:ext cx="7992887" cy="4344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5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7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9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35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Salary/year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 of job openings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134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Scientist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$108 000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6 510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134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DevOps</a:t>
                      </a:r>
                      <a:r>
                        <a:rPr lang="en-US" dirty="0"/>
                        <a:t>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$106 000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4 657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134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4 739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95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$104 000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49 007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134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Security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$102 000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r>
                        <a:rPr lang="en-US" baseline="0" dirty="0"/>
                        <a:t> 683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134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$75 000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30 107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134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2 158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134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$85 000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r>
                        <a:rPr lang="en-US" baseline="0" dirty="0"/>
                        <a:t> 636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134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Solution 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$127 000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6 969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134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</a:t>
                      </a:r>
                      <a:r>
                        <a:rPr lang="en-US" baseline="0" dirty="0"/>
                        <a:t> analyst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$60 000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r>
                        <a:rPr lang="en-US" baseline="0" dirty="0"/>
                        <a:t> 456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04048" y="6093296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/>
                <a:cs typeface="Times New Roman"/>
              </a:rPr>
              <a:t>[Glassdoor.com, 2019]</a:t>
            </a:r>
          </a:p>
        </p:txBody>
      </p:sp>
    </p:spTree>
    <p:extLst>
      <p:ext uri="{BB962C8B-B14F-4D97-AF65-F5344CB8AC3E}">
        <p14:creationId xmlns:p14="http://schemas.microsoft.com/office/powerpoint/2010/main" val="540481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D33CD-4D7E-7F45-2405-7E1B0AF9B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Top 10 Best Jobs in America for 2021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A8BD8EB-7577-4BF0-F5B2-702F33021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1652" y="1719946"/>
            <a:ext cx="5740695" cy="428647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F04C6-3409-02F2-F266-FB724DCAB8B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smtClean="0"/>
              <a:t>Information Systems Department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B520A0-F86D-09BA-917D-63F3CF3D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06921E-B4AC-6943-8138-894207DFCC2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50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1528451" y="188640"/>
            <a:ext cx="6172200" cy="802481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2925" dirty="0">
                <a:ea typeface="ＭＳ Ｐゴシック" charset="-128"/>
              </a:rPr>
              <a:t>Database Career Opportunities</a:t>
            </a:r>
            <a:r>
              <a:rPr lang="en-US" altLang="en-US" dirty="0">
                <a:ea typeface="ＭＳ Ｐゴシック" charset="-128"/>
              </a:rPr>
              <a:t/>
            </a:r>
            <a:br>
              <a:rPr lang="en-US" altLang="en-US" dirty="0">
                <a:ea typeface="ＭＳ Ｐゴシック" charset="-128"/>
              </a:rPr>
            </a:br>
            <a:endParaRPr lang="en-US" altLang="en-US" dirty="0">
              <a:ea typeface="ＭＳ Ｐゴシック" charset="-128"/>
            </a:endParaRPr>
          </a:p>
        </p:txBody>
      </p:sp>
      <p:sp>
        <p:nvSpPr>
          <p:cNvPr id="4608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B0503B9-D05A-40B1-87F6-7879BAE38469}" type="slidenum">
              <a:rPr lang="en-US" altLang="en-US"/>
              <a:pPr/>
              <a:t>7</a:t>
            </a:fld>
            <a:endParaRPr lang="en-US" altLang="en-US"/>
          </a:p>
        </p:txBody>
      </p:sp>
      <p:pic>
        <p:nvPicPr>
          <p:cNvPr id="46084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991121"/>
            <a:ext cx="8580553" cy="5365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05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0" y="523433"/>
            <a:ext cx="6436680" cy="10216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rgbClr val="FFFFFF"/>
                </a:solidFill>
                <a:latin typeface="Times New Roman" charset="0"/>
                <a:ea typeface="+mj-ea"/>
                <a:cs typeface="Times New Roman" charset="0"/>
              </a:rPr>
              <a:t>Top 10 DBMS 2020</a:t>
            </a: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F3F51DD-068E-D44A-AEC6-C6D5702A1DA8}" type="slidenum">
              <a:rPr lang="en-US" sz="1200">
                <a:latin typeface="Verdana" charset="0"/>
              </a:rPr>
              <a:pPr eaLnBrk="1" hangingPunct="1"/>
              <a:t>8</a:t>
            </a:fld>
            <a:endParaRPr lang="en-US" sz="1200">
              <a:latin typeface="Verdana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0924"/>
            <a:ext cx="9144000" cy="425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722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59898-11B4-EEC0-FFF3-9EE72B0F2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FFFF"/>
                </a:solidFill>
                <a:latin typeface="Times New Roman" charset="0"/>
                <a:ea typeface="+mj-ea"/>
                <a:cs typeface="Times New Roman" charset="0"/>
              </a:rPr>
              <a:t>Top 10 DBMS 2022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FC7C4-E0B4-FEC3-B57C-0B6E5E421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76200" indent="0">
              <a:buNone/>
            </a:pPr>
            <a:r>
              <a:rPr lang="en-US" dirty="0"/>
              <a:t>According to </a:t>
            </a:r>
            <a:r>
              <a:rPr lang="en-US" dirty="0">
                <a:hlinkClick r:id="rId2"/>
              </a:rPr>
              <a:t>DB-Engines ranking</a:t>
            </a:r>
            <a:r>
              <a:rPr lang="en-US" dirty="0"/>
              <a:t>, as of March 2022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1. Oracle</a:t>
            </a:r>
          </a:p>
          <a:p>
            <a:pPr marL="76200" indent="0">
              <a:buNone/>
            </a:pPr>
            <a:r>
              <a:rPr lang="en-US" dirty="0"/>
              <a:t>2. MySQL</a:t>
            </a:r>
          </a:p>
          <a:p>
            <a:pPr marL="76200" indent="0">
              <a:buNone/>
            </a:pPr>
            <a:r>
              <a:rPr lang="en-US" dirty="0"/>
              <a:t>3. Microsoft SQL Server</a:t>
            </a:r>
          </a:p>
          <a:p>
            <a:pPr marL="76200" indent="0">
              <a:buNone/>
            </a:pPr>
            <a:r>
              <a:rPr lang="en-US" dirty="0"/>
              <a:t>4. PostgreSQL</a:t>
            </a:r>
          </a:p>
          <a:p>
            <a:pPr marL="76200" indent="0">
              <a:buNone/>
            </a:pPr>
            <a:r>
              <a:rPr lang="en-US" dirty="0"/>
              <a:t>5. MongoDB</a:t>
            </a:r>
          </a:p>
          <a:p>
            <a:pPr marL="76200" indent="0">
              <a:buNone/>
            </a:pPr>
            <a:r>
              <a:rPr lang="en-US" dirty="0"/>
              <a:t>6. Redis</a:t>
            </a:r>
          </a:p>
          <a:p>
            <a:pPr marL="76200" indent="0">
              <a:buNone/>
            </a:pPr>
            <a:r>
              <a:rPr lang="en-US" dirty="0"/>
              <a:t>7. IBM DB2</a:t>
            </a:r>
          </a:p>
          <a:p>
            <a:pPr marL="76200" indent="0">
              <a:buNone/>
            </a:pPr>
            <a:r>
              <a:rPr lang="en-US" dirty="0"/>
              <a:t>8. Elasticsearch</a:t>
            </a:r>
          </a:p>
          <a:p>
            <a:pPr marL="76200" indent="0">
              <a:buNone/>
            </a:pPr>
            <a:r>
              <a:rPr lang="en-US" dirty="0"/>
              <a:t>9. Microsoft Access</a:t>
            </a:r>
          </a:p>
          <a:p>
            <a:pPr marL="76200" indent="0">
              <a:buNone/>
            </a:pPr>
            <a:r>
              <a:rPr lang="en-US" dirty="0"/>
              <a:t>10. SQLite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7EAFE-990C-07A2-E68C-2F02FDAF5B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03EFA-0B4C-1A4D-9916-0C45AF9E0C4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51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download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899" y="2749697"/>
            <a:ext cx="2451100" cy="3314700"/>
          </a:xfrm>
          <a:prstGeom prst="rect">
            <a:avLst/>
          </a:prstGeom>
        </p:spPr>
      </p:pic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-1" y="220989"/>
            <a:ext cx="6946876" cy="1549373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 err="1">
                <a:solidFill>
                  <a:schemeClr val="bg1"/>
                </a:solidFill>
                <a:latin typeface="Times New Roman" charset="0"/>
                <a:ea typeface="+mj-ea"/>
                <a:cs typeface="Times New Roman" charset="0"/>
              </a:rPr>
              <a:t>Các</a:t>
            </a:r>
            <a:r>
              <a:rPr lang="en-US" sz="4000" dirty="0">
                <a:solidFill>
                  <a:schemeClr val="bg1"/>
                </a:solidFill>
                <a:latin typeface="Times New Roman" charset="0"/>
                <a:ea typeface="+mj-ea"/>
                <a:cs typeface="Times New Roman" charset="0"/>
              </a:rPr>
              <a:t> HQT CSDL </a:t>
            </a:r>
            <a:r>
              <a:rPr lang="en-US" sz="4000" dirty="0" err="1">
                <a:solidFill>
                  <a:schemeClr val="bg1"/>
                </a:solidFill>
                <a:latin typeface="Times New Roman" charset="0"/>
                <a:ea typeface="+mj-ea"/>
                <a:cs typeface="Times New Roman" charset="0"/>
              </a:rPr>
              <a:t>dùng</a:t>
            </a:r>
            <a:r>
              <a:rPr lang="en-US" sz="4000" dirty="0">
                <a:solidFill>
                  <a:schemeClr val="bg1"/>
                </a:solidFill>
                <a:latin typeface="Times New Roman" charset="0"/>
                <a:ea typeface="+mj-ea"/>
                <a:cs typeface="Times New Roman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charset="0"/>
                <a:ea typeface="+mj-ea"/>
                <a:cs typeface="Times New Roman" charset="0"/>
              </a:rPr>
              <a:t>bởi</a:t>
            </a:r>
            <a:r>
              <a:rPr lang="en-US" sz="4000" dirty="0">
                <a:solidFill>
                  <a:schemeClr val="bg1"/>
                </a:solidFill>
                <a:latin typeface="Times New Roman" charset="0"/>
                <a:ea typeface="+mj-ea"/>
                <a:cs typeface="Times New Roman" charset="0"/>
              </a:rPr>
              <a:t> Google, Facebook, Twitter</a:t>
            </a:r>
            <a:r>
              <a:rPr lang="mr-IN" sz="4000" dirty="0">
                <a:solidFill>
                  <a:schemeClr val="bg1"/>
                </a:solidFill>
                <a:latin typeface="Times New Roman" charset="0"/>
                <a:ea typeface="+mj-ea"/>
                <a:cs typeface="Times New Roman" charset="0"/>
              </a:rPr>
              <a:t>…</a:t>
            </a:r>
            <a:endParaRPr lang="en-US" sz="4000" dirty="0">
              <a:solidFill>
                <a:schemeClr val="bg1"/>
              </a:solidFill>
              <a:latin typeface="Times New Roman" charset="0"/>
              <a:ea typeface="+mj-ea"/>
              <a:cs typeface="Times New Roman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F3F51DD-068E-D44A-AEC6-C6D5702A1DA8}" type="slidenum">
              <a:rPr lang="en-US" sz="1200">
                <a:latin typeface="Verdana" charset="0"/>
              </a:rPr>
              <a:pPr eaLnBrk="1" hangingPunct="1"/>
              <a:t>10</a:t>
            </a:fld>
            <a:endParaRPr lang="en-US" sz="1200">
              <a:latin typeface="Verdana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606195" y="1171514"/>
            <a:ext cx="2499205" cy="426674"/>
          </a:xfrm>
        </p:spPr>
        <p:txBody>
          <a:bodyPr>
            <a:normAutofit fontScale="40000" lnSpcReduction="20000"/>
          </a:bodyPr>
          <a:lstStyle/>
          <a:p>
            <a:pPr marL="76200" indent="0">
              <a:buNone/>
            </a:pPr>
            <a:r>
              <a:rPr lang="en-US" i="1" dirty="0"/>
              <a:t>[</a:t>
            </a:r>
            <a:r>
              <a:rPr lang="en-US" i="1" dirty="0" err="1"/>
              <a:t>stackshare.io</a:t>
            </a:r>
            <a:r>
              <a:rPr lang="en-US" i="1" dirty="0"/>
              <a:t>]</a:t>
            </a:r>
          </a:p>
        </p:txBody>
      </p:sp>
      <p:pic>
        <p:nvPicPr>
          <p:cNvPr id="6" name="Picture 5" descr="download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98188"/>
            <a:ext cx="4500800" cy="1272012"/>
          </a:xfrm>
          <a:prstGeom prst="rect">
            <a:avLst/>
          </a:prstGeom>
        </p:spPr>
      </p:pic>
      <p:pic>
        <p:nvPicPr>
          <p:cNvPr id="7" name="Picture 6" descr="download (1)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500" y="3212957"/>
            <a:ext cx="2628900" cy="3086100"/>
          </a:xfrm>
          <a:prstGeom prst="rect">
            <a:avLst/>
          </a:prstGeom>
        </p:spPr>
      </p:pic>
      <p:pic>
        <p:nvPicPr>
          <p:cNvPr id="9" name="Picture 8" descr="download (2)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96" y="2870200"/>
            <a:ext cx="3091842" cy="2076273"/>
          </a:xfrm>
          <a:prstGeom prst="rect">
            <a:avLst/>
          </a:prstGeom>
        </p:spPr>
      </p:pic>
      <p:pic>
        <p:nvPicPr>
          <p:cNvPr id="10" name="Picture 9" descr="download (3)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8" y="5366497"/>
            <a:ext cx="4176663" cy="1395800"/>
          </a:xfrm>
          <a:prstGeom prst="rect">
            <a:avLst/>
          </a:prstGeom>
        </p:spPr>
      </p:pic>
      <p:pic>
        <p:nvPicPr>
          <p:cNvPr id="11" name="Picture 10" descr="download (4)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345" y="1598188"/>
            <a:ext cx="4203700" cy="193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274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564904"/>
            <a:ext cx="7772400" cy="1362075"/>
          </a:xfrm>
        </p:spPr>
        <p:txBody>
          <a:bodyPr/>
          <a:lstStyle/>
          <a:p>
            <a:pPr algn="ctr"/>
            <a:r>
              <a:rPr lang="en-US" dirty="0"/>
              <a:t>BASIC CONCEPTS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smtClean="0"/>
              <a:t>Information Systems Department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B29592-F14E-CE40-9E4A-646F99D9A3EE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755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– Information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6296" y="6480639"/>
            <a:ext cx="1600200" cy="273844"/>
          </a:xfrm>
        </p:spPr>
        <p:txBody>
          <a:bodyPr/>
          <a:lstStyle/>
          <a:p>
            <a:fld id="{34C3FF03-423E-4E1E-A9CC-30704DA9EF30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0" t="34438" r="52898" b="24467"/>
          <a:stretch/>
        </p:blipFill>
        <p:spPr bwMode="auto">
          <a:xfrm>
            <a:off x="394346" y="1417638"/>
            <a:ext cx="8484338" cy="4819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29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vs. Information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FFC000"/>
                </a:solidFill>
              </a:rPr>
              <a:t>Data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Raw facts  </a:t>
            </a:r>
          </a:p>
          <a:p>
            <a:pPr lvl="1"/>
            <a:r>
              <a:rPr lang="en-US" altLang="en-US"/>
              <a:t>Raw data - </a:t>
            </a:r>
            <a:r>
              <a:rPr lang="en-CA" altLang="en-US"/>
              <a:t>Not yet been processed to reveal the meaning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Building blocks of information</a:t>
            </a:r>
          </a:p>
          <a:p>
            <a:r>
              <a:rPr lang="en-US" altLang="en-US" b="1">
                <a:ea typeface="ＭＳ Ｐゴシック" panose="020B0600070205080204" pitchFamily="34" charset="-128"/>
              </a:rPr>
              <a:t>Data management </a:t>
            </a:r>
          </a:p>
          <a:p>
            <a:pPr lvl="1"/>
            <a:r>
              <a:rPr lang="en-CA" altLang="en-US"/>
              <a:t>Generation, storage, and retrieval of data </a:t>
            </a:r>
            <a:endParaRPr lang="en-US" altLang="en-US"/>
          </a:p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FFC000"/>
                </a:solidFill>
              </a:rPr>
              <a:t>Information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Produced by processing data </a:t>
            </a:r>
          </a:p>
          <a:p>
            <a:r>
              <a:rPr lang="en-CA" altLang="en-US">
                <a:ea typeface="ＭＳ Ｐゴシック" panose="020B0600070205080204" pitchFamily="34" charset="-128"/>
              </a:rPr>
              <a:t>Reveals the meaning of data </a:t>
            </a:r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CA" altLang="en-US">
                <a:ea typeface="ＭＳ Ｐゴシック" panose="020B0600070205080204" pitchFamily="34" charset="-128"/>
              </a:rPr>
              <a:t>Enables </a:t>
            </a:r>
            <a:r>
              <a:rPr lang="en-CA" altLang="en-US" b="1">
                <a:ea typeface="ＭＳ Ｐゴシック" panose="020B0600070205080204" pitchFamily="34" charset="-128"/>
              </a:rPr>
              <a:t>knowledge </a:t>
            </a:r>
            <a:r>
              <a:rPr lang="en-CA" altLang="en-US">
                <a:ea typeface="ＭＳ Ｐゴシック" panose="020B0600070205080204" pitchFamily="34" charset="-128"/>
              </a:rPr>
              <a:t>creation</a:t>
            </a:r>
          </a:p>
          <a:p>
            <a:r>
              <a:rPr lang="en-CA" altLang="en-US">
                <a:ea typeface="ＭＳ Ｐゴシック" panose="020B0600070205080204" pitchFamily="34" charset="-128"/>
              </a:rPr>
              <a:t>Should be accurate, relevant, and timely to enable good decision making</a:t>
            </a:r>
            <a:endParaRPr lang="en-US" altLang="en-US">
              <a:ea typeface="ＭＳ Ｐゴシック" panose="020B0600070205080204" pitchFamily="34" charset="-128"/>
            </a:endParaRPr>
          </a:p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AF2264AE-90D9-479E-8532-FB64B142E2D9}" type="slidenum">
              <a:rPr lang="en-US" smtClean="0"/>
              <a:t>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4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>
                <a:solidFill>
                  <a:schemeClr val="tx1"/>
                </a:solidFill>
                <a:ea typeface="ＭＳ Ｐゴシック" charset="-128"/>
              </a:rPr>
              <a:t>Evolution of File System Data Processing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1867100"/>
              </p:ext>
            </p:extLst>
          </p:nvPr>
        </p:nvGraphicFramePr>
        <p:xfrm>
          <a:off x="1371600" y="1556792"/>
          <a:ext cx="6343650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867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37772CC-2F31-48B8-A2E9-C988BAF1BC90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34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 of a simple Customer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AF2264AE-90D9-479E-8532-FB64B142E2D9}" type="slidenum">
              <a:rPr lang="en-US" smtClean="0"/>
              <a:t>15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343181"/>
            <a:ext cx="8614612" cy="4782982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559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en-US" sz="2400" dirty="0">
                <a:ea typeface="ＭＳ Ｐゴシック" panose="020B0600070205080204" pitchFamily="34" charset="-128"/>
              </a:rPr>
              <a:t>A Simple File System </a:t>
            </a:r>
            <a:r>
              <a:rPr lang="fr-FR" altLang="en-US" sz="2400" dirty="0" err="1">
                <a:ea typeface="ＭＳ Ｐゴシック" panose="020B0600070205080204" pitchFamily="34" charset="-128"/>
              </a:rPr>
              <a:t>example</a:t>
            </a:r>
            <a:endParaRPr lang="en-US" altLang="en-US" sz="2400" dirty="0">
              <a:ea typeface="ＭＳ Ｐゴシック" panose="020B0600070205080204" pitchFamily="34" charset="-128"/>
            </a:endParaRPr>
          </a:p>
        </p:txBody>
      </p:sp>
      <p:sp>
        <p:nvSpPr>
          <p:cNvPr id="3072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D3D1356-DE68-458C-B344-A2C1D1478028}" type="slidenum">
              <a:rPr lang="en-US" altLang="en-US"/>
              <a:pPr/>
              <a:t>16</a:t>
            </a:fld>
            <a:endParaRPr lang="en-US" altLang="en-US" dirty="0"/>
          </a:p>
        </p:txBody>
      </p:sp>
      <p:pic>
        <p:nvPicPr>
          <p:cNvPr id="30724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1177510"/>
            <a:ext cx="7807988" cy="4447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90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>
                <a:ea typeface="ＭＳ Ｐゴシック" charset="-128"/>
              </a:rPr>
              <a:t>Problems with File System Data Processing</a:t>
            </a:r>
          </a:p>
        </p:txBody>
      </p:sp>
      <p:sp>
        <p:nvSpPr>
          <p:cNvPr id="31747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2381B30-422B-437B-8E93-8B77E0E35E24}" type="slidenum">
              <a:rPr lang="en-US" altLang="en-US"/>
              <a:pPr/>
              <a:t>17</a:t>
            </a:fld>
            <a:endParaRPr lang="en-US" altLang="en-US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393405304"/>
              </p:ext>
            </p:extLst>
          </p:nvPr>
        </p:nvGraphicFramePr>
        <p:xfrm>
          <a:off x="1600200" y="1417638"/>
          <a:ext cx="7086600" cy="4938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91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Database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17638"/>
            <a:ext cx="8335838" cy="4938712"/>
          </a:xfrm>
        </p:spPr>
        <p:txBody>
          <a:bodyPr>
            <a:normAutofit lnSpcReduction="10000"/>
          </a:bodyPr>
          <a:lstStyle/>
          <a:p>
            <a:pPr marL="274320" indent="-192024">
              <a:defRPr/>
            </a:pPr>
            <a:r>
              <a:rPr lang="en-US" altLang="en-US" dirty="0">
                <a:ea typeface="ＭＳ Ｐゴシック" charset="-128"/>
              </a:rPr>
              <a:t>Shared, integrated computer structure that stores a collection of:</a:t>
            </a:r>
          </a:p>
          <a:p>
            <a:pPr marL="493776" lvl="1" indent="-185166">
              <a:defRPr/>
            </a:pPr>
            <a:r>
              <a:rPr lang="en-US" altLang="en-US" dirty="0"/>
              <a:t>End-user data - </a:t>
            </a:r>
            <a:r>
              <a:rPr lang="en-US" altLang="en-US" i="1" dirty="0"/>
              <a:t>Raw facts of interest to end user</a:t>
            </a:r>
          </a:p>
          <a:p>
            <a:pPr marL="493776" lvl="1" indent="-185166">
              <a:defRPr/>
            </a:pPr>
            <a:r>
              <a:rPr lang="en-US" altLang="en-US" b="1" dirty="0"/>
              <a:t>Metadata</a:t>
            </a:r>
            <a:r>
              <a:rPr lang="en-US" altLang="en-US" dirty="0"/>
              <a:t>: Data about data, which the end-user data are integrated and managed</a:t>
            </a:r>
          </a:p>
          <a:p>
            <a:pPr marL="692658" lvl="2" indent="-164592">
              <a:defRPr/>
            </a:pPr>
            <a:r>
              <a:rPr lang="en-US" altLang="en-US" dirty="0"/>
              <a:t>Describe data characteristics and relationships </a:t>
            </a:r>
          </a:p>
          <a:p>
            <a:pPr marL="274320" indent="-192024">
              <a:defRPr/>
            </a:pPr>
            <a:r>
              <a:rPr lang="en-US" altLang="en-US" b="1" dirty="0">
                <a:ea typeface="ＭＳ Ｐゴシック" charset="-128"/>
              </a:rPr>
              <a:t>Database management system (DBMS)</a:t>
            </a:r>
            <a:r>
              <a:rPr lang="en-US" altLang="en-US" dirty="0">
                <a:ea typeface="ＭＳ Ｐゴシック" charset="-128"/>
              </a:rPr>
              <a:t> </a:t>
            </a:r>
          </a:p>
          <a:p>
            <a:pPr marL="493776" lvl="1" indent="-185166">
              <a:defRPr/>
            </a:pPr>
            <a:r>
              <a:rPr lang="en-US" altLang="en-US" dirty="0"/>
              <a:t>Collection of programs</a:t>
            </a:r>
          </a:p>
          <a:p>
            <a:pPr marL="493776" lvl="1" indent="-185166">
              <a:defRPr/>
            </a:pPr>
            <a:r>
              <a:rPr lang="en-US" altLang="en-US" dirty="0"/>
              <a:t>Manages the database structure </a:t>
            </a:r>
          </a:p>
          <a:p>
            <a:pPr marL="493776" lvl="1" indent="-185166">
              <a:defRPr/>
            </a:pPr>
            <a:r>
              <a:rPr lang="en-US" altLang="en-US" dirty="0"/>
              <a:t>Controls access to data stored in the database</a:t>
            </a:r>
          </a:p>
          <a:p>
            <a:pPr marL="0" indent="0">
              <a:buNone/>
              <a:defRPr/>
            </a:pPr>
            <a:endParaRPr lang="en-US" altLang="en-US" dirty="0"/>
          </a:p>
        </p:txBody>
      </p:sp>
      <p:sp>
        <p:nvSpPr>
          <p:cNvPr id="17412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9B0F21B-C0A8-465C-8B4B-ADF07F0B5275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37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Role of the DBMS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Intermediary between the user and the database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Enables data to be shared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Presents the end user with an integrated view of the data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Receives and translates application requests into operations required to fulfill the requests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Hides database’s internal complexity from the application programs and users</a:t>
            </a:r>
          </a:p>
        </p:txBody>
      </p:sp>
      <p:sp>
        <p:nvSpPr>
          <p:cNvPr id="18436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BEF995-5B39-4679-978A-9D093ED4795E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752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2175" dirty="0">
                <a:ea typeface="ＭＳ Ｐゴシック" panose="020B0600070205080204" pitchFamily="34" charset="-128"/>
              </a:rPr>
              <a:t>The DBMS Manages the Interaction between the End User and the Database</a:t>
            </a: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2F0E77D-4CE5-474C-9EF4-8CE2EDF29311}" type="slidenum">
              <a:rPr lang="en-US" altLang="en-US"/>
              <a:pPr/>
              <a:t>20</a:t>
            </a:fld>
            <a:endParaRPr lang="en-US" altLang="en-US"/>
          </a:p>
        </p:txBody>
      </p:sp>
      <p:pic>
        <p:nvPicPr>
          <p:cNvPr id="19460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351" y="1700808"/>
            <a:ext cx="8425197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31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899592" y="1484784"/>
            <a:ext cx="7344816" cy="4824536"/>
          </a:xfrm>
          <a:prstGeom prst="roundRect">
            <a:avLst/>
          </a:prstGeom>
          <a:ln w="28575" cmpd="sng">
            <a:prstDash val="dash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4F81BD"/>
                </a:solidFill>
              </a:rPr>
              <a:t>Components of DBMS</a:t>
            </a:r>
            <a:endParaRPr lang="en-US" dirty="0"/>
          </a:p>
        </p:txBody>
      </p:sp>
      <p:pic>
        <p:nvPicPr>
          <p:cNvPr id="6" name="Content Placeholder 5" descr="structure-of-dbms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831" r="-14831"/>
          <a:stretch>
            <a:fillRect/>
          </a:stretch>
        </p:blipFill>
        <p:spPr>
          <a:xfrm>
            <a:off x="457200" y="1700808"/>
            <a:ext cx="8229600" cy="4425355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smtClean="0"/>
              <a:t>Information Systems Department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06921E-B4AC-6943-8138-894207DFCC28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24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 data</a:t>
            </a:r>
          </a:p>
        </p:txBody>
      </p:sp>
      <p:pic>
        <p:nvPicPr>
          <p:cNvPr id="6" name="Content Placeholder 5" descr="metadata_database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136" b="-10136"/>
          <a:stretch>
            <a:fillRect/>
          </a:stretch>
        </p:blipFill>
        <p:spPr>
          <a:xfrm>
            <a:off x="0" y="1052736"/>
            <a:ext cx="8686800" cy="5303614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AF2264AE-90D9-479E-8532-FB64B142E2D9}" type="slidenum">
              <a:rPr lang="en-US" smtClean="0"/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078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smtClean="0"/>
              <a:t>Information Systems Department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06921E-B4AC-6943-8138-894207DFCC28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65149"/>
            <a:ext cx="8292792" cy="645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734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Advantages of the DBMS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fontScale="92500" lnSpcReduction="10000"/>
          </a:bodyPr>
          <a:lstStyle/>
          <a:p>
            <a:pPr marL="257175" lvl="1" indent="-257175">
              <a:buFontTx/>
              <a:buChar char="•"/>
              <a:defRPr/>
            </a:pPr>
            <a:r>
              <a:rPr lang="en-US" altLang="en-US" dirty="0"/>
              <a:t>Better data integration and less data inconsistency</a:t>
            </a:r>
          </a:p>
          <a:p>
            <a:pPr marL="557213" lvl="2" indent="-257175">
              <a:buFont typeface="Arial" panose="020B0604020202020204" pitchFamily="34" charset="0"/>
              <a:buChar char="–"/>
              <a:defRPr/>
            </a:pPr>
            <a:r>
              <a:rPr lang="en-CA" b="1" dirty="0"/>
              <a:t>Data inconsistency</a:t>
            </a:r>
            <a:r>
              <a:rPr lang="en-CA" dirty="0"/>
              <a:t>:</a:t>
            </a:r>
            <a:r>
              <a:rPr lang="en-CA" b="1" dirty="0"/>
              <a:t> </a:t>
            </a:r>
            <a:r>
              <a:rPr lang="en-CA" dirty="0"/>
              <a:t>Different versions of the same data appear in different places</a:t>
            </a:r>
            <a:endParaRPr lang="en-US" altLang="en-US" dirty="0"/>
          </a:p>
          <a:p>
            <a:pPr marL="257175" lvl="1" indent="-257175">
              <a:buFontTx/>
              <a:buChar char="•"/>
              <a:defRPr/>
            </a:pPr>
            <a:r>
              <a:rPr lang="en-US" altLang="en-US" dirty="0"/>
              <a:t>Increased end-user productivity</a:t>
            </a:r>
          </a:p>
          <a:p>
            <a:pPr marL="257175" lvl="1" indent="-257175">
              <a:buFontTx/>
              <a:buChar char="•"/>
              <a:defRPr/>
            </a:pPr>
            <a:r>
              <a:rPr lang="en-US" altLang="en-US" dirty="0"/>
              <a:t>Improved:</a:t>
            </a:r>
          </a:p>
          <a:p>
            <a:pPr marL="493776" lvl="1" indent="-185166">
              <a:defRPr/>
            </a:pPr>
            <a:r>
              <a:rPr lang="en-US" altLang="en-US" dirty="0"/>
              <a:t>Data sharing</a:t>
            </a:r>
          </a:p>
          <a:p>
            <a:pPr marL="493776" lvl="1" indent="-185166">
              <a:defRPr/>
            </a:pPr>
            <a:r>
              <a:rPr lang="en-US" altLang="en-US" dirty="0"/>
              <a:t>Data security</a:t>
            </a:r>
          </a:p>
          <a:p>
            <a:pPr marL="493776" lvl="1" indent="-185166">
              <a:defRPr/>
            </a:pPr>
            <a:r>
              <a:rPr lang="en-US" altLang="en-US" dirty="0"/>
              <a:t>Data access</a:t>
            </a:r>
          </a:p>
          <a:p>
            <a:pPr marL="493776" lvl="1" indent="-185166">
              <a:defRPr/>
            </a:pPr>
            <a:r>
              <a:rPr lang="en-US" altLang="en-US" dirty="0"/>
              <a:t>Decision making</a:t>
            </a:r>
          </a:p>
          <a:p>
            <a:pPr marL="0" indent="-272034">
              <a:defRPr/>
            </a:pPr>
            <a:r>
              <a:rPr lang="en-CA" sz="2800" b="1" dirty="0"/>
              <a:t>Data quality</a:t>
            </a:r>
            <a:r>
              <a:rPr lang="en-CA" sz="2800" dirty="0"/>
              <a:t>:</a:t>
            </a:r>
            <a:r>
              <a:rPr lang="en-CA" sz="2800" b="1" dirty="0"/>
              <a:t> </a:t>
            </a:r>
            <a:r>
              <a:rPr lang="en-CA" sz="2800" dirty="0"/>
              <a:t>Promoting accuracy, validity, and timeliness of data</a:t>
            </a:r>
            <a:endParaRPr lang="en-US" altLang="en-US" sz="2800" dirty="0"/>
          </a:p>
        </p:txBody>
      </p:sp>
      <p:sp>
        <p:nvSpPr>
          <p:cNvPr id="20484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8686710-48E7-4C12-B216-27ED91A1B4C5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15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Types of Databases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17638"/>
            <a:ext cx="8058150" cy="474766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>
                <a:ea typeface="ＭＳ Ｐゴシック" panose="020B0600070205080204" pitchFamily="34" charset="-128"/>
              </a:rPr>
              <a:t>Single-user database</a:t>
            </a:r>
            <a:r>
              <a:rPr lang="en-US" altLang="en-US" dirty="0">
                <a:ea typeface="ＭＳ Ｐゴシック" panose="020B0600070205080204" pitchFamily="34" charset="-128"/>
              </a:rPr>
              <a:t>:</a:t>
            </a:r>
            <a:r>
              <a:rPr lang="en-US" altLang="en-US" b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Supports one user at a time</a:t>
            </a:r>
          </a:p>
          <a:p>
            <a:pPr lvl="1" eaLnBrk="1" hangingPunct="1"/>
            <a:r>
              <a:rPr lang="en-US" altLang="en-US" b="1" dirty="0"/>
              <a:t>Desktop database</a:t>
            </a:r>
            <a:r>
              <a:rPr lang="en-US" altLang="en-US" dirty="0"/>
              <a:t>: Runs on PC</a:t>
            </a:r>
          </a:p>
          <a:p>
            <a:pPr eaLnBrk="1" hangingPunct="1"/>
            <a:r>
              <a:rPr lang="en-US" altLang="en-US" b="1" dirty="0">
                <a:ea typeface="ＭＳ Ｐゴシック" panose="020B0600070205080204" pitchFamily="34" charset="-128"/>
              </a:rPr>
              <a:t>Multi-user database</a:t>
            </a:r>
            <a:r>
              <a:rPr lang="en-US" altLang="en-US" dirty="0">
                <a:ea typeface="ＭＳ Ｐゴシック" panose="020B0600070205080204" pitchFamily="34" charset="-128"/>
              </a:rPr>
              <a:t>:</a:t>
            </a:r>
            <a:r>
              <a:rPr lang="en-US" altLang="en-US" b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Supports multiple users at the same time</a:t>
            </a:r>
          </a:p>
          <a:p>
            <a:pPr lvl="1" eaLnBrk="1" hangingPunct="1"/>
            <a:r>
              <a:rPr lang="en-US" altLang="en-US" b="1" dirty="0"/>
              <a:t>Workgroup databases</a:t>
            </a:r>
            <a:r>
              <a:rPr lang="en-US" altLang="en-US" dirty="0"/>
              <a:t>:</a:t>
            </a:r>
            <a:r>
              <a:rPr lang="en-US" altLang="en-US" b="1" dirty="0"/>
              <a:t> </a:t>
            </a:r>
            <a:r>
              <a:rPr lang="en-US" altLang="en-US" dirty="0"/>
              <a:t>Supports a small number of users or a specific department</a:t>
            </a:r>
          </a:p>
          <a:p>
            <a:pPr lvl="1" eaLnBrk="1" hangingPunct="1"/>
            <a:r>
              <a:rPr lang="en-US" altLang="en-US" b="1" dirty="0"/>
              <a:t>Enterprise database</a:t>
            </a:r>
            <a:r>
              <a:rPr lang="en-US" altLang="en-US" dirty="0"/>
              <a:t>:</a:t>
            </a:r>
            <a:r>
              <a:rPr lang="en-US" altLang="en-US" b="1" dirty="0"/>
              <a:t> </a:t>
            </a:r>
            <a:r>
              <a:rPr lang="en-US" altLang="en-US" dirty="0"/>
              <a:t>Supports many users across many departments</a:t>
            </a:r>
          </a:p>
        </p:txBody>
      </p:sp>
      <p:sp>
        <p:nvSpPr>
          <p:cNvPr id="21508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9D6A944-0673-4E0F-BE36-B39A8116AAFA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80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Types of Databases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7638"/>
            <a:ext cx="3352572" cy="4136628"/>
          </a:xfrm>
        </p:spPr>
        <p:txBody>
          <a:bodyPr>
            <a:normAutofit fontScale="70000" lnSpcReduction="20000"/>
          </a:bodyPr>
          <a:lstStyle/>
          <a:p>
            <a:pPr marL="274320" indent="-192024">
              <a:defRPr/>
            </a:pPr>
            <a:r>
              <a:rPr lang="en-US" altLang="en-US" b="1" dirty="0"/>
              <a:t>Centralized database</a:t>
            </a:r>
            <a:r>
              <a:rPr lang="en-US" altLang="en-US" dirty="0"/>
              <a:t>: Data is located at a single site</a:t>
            </a:r>
          </a:p>
          <a:p>
            <a:pPr marL="274320" indent="-192024">
              <a:defRPr/>
            </a:pPr>
            <a:r>
              <a:rPr lang="en-US" altLang="en-US" b="1" dirty="0"/>
              <a:t>Distributed database</a:t>
            </a:r>
            <a:r>
              <a:rPr lang="en-US" altLang="en-US" dirty="0"/>
              <a:t>: Data is distributed across different sites </a:t>
            </a:r>
          </a:p>
          <a:p>
            <a:pPr marL="274320" indent="-192024">
              <a:defRPr/>
            </a:pPr>
            <a:r>
              <a:rPr lang="en-US" altLang="en-US" b="1" dirty="0"/>
              <a:t>Cloud database</a:t>
            </a:r>
            <a:r>
              <a:rPr lang="en-US" altLang="en-US" dirty="0"/>
              <a:t>: Created and maintained using cloud data services that provide defined performance measures for the database</a:t>
            </a:r>
          </a:p>
          <a:p>
            <a:pPr marL="0" indent="0">
              <a:buNone/>
              <a:defRPr/>
            </a:pPr>
            <a:endParaRPr lang="en-US" altLang="en-US" b="1" dirty="0">
              <a:ea typeface="ＭＳ Ｐゴシック" charset="-128"/>
            </a:endParaRPr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63E6F9B-8AFB-4435-8452-F274393393AA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  <p:pic>
        <p:nvPicPr>
          <p:cNvPr id="3" name="Picture 2" descr="Insert-Image_06_02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392" y="1260378"/>
            <a:ext cx="4433787" cy="2737361"/>
          </a:xfrm>
          <a:prstGeom prst="rect">
            <a:avLst/>
          </a:prstGeom>
        </p:spPr>
      </p:pic>
      <p:pic>
        <p:nvPicPr>
          <p:cNvPr id="4" name="Picture 3" descr="images.jpe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830" y="4216591"/>
            <a:ext cx="4379048" cy="213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724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Types of Databases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556792"/>
            <a:ext cx="8363272" cy="4067721"/>
          </a:xfrm>
        </p:spPr>
        <p:txBody>
          <a:bodyPr/>
          <a:lstStyle/>
          <a:p>
            <a:pPr eaLnBrk="1" hangingPunct="1"/>
            <a:r>
              <a:rPr lang="en-US" altLang="en-US" b="1" dirty="0">
                <a:ea typeface="ＭＳ Ｐゴシック" panose="020B0600070205080204" pitchFamily="34" charset="-128"/>
              </a:rPr>
              <a:t>General-purpose databases</a:t>
            </a:r>
            <a:r>
              <a:rPr lang="en-US" altLang="en-US" dirty="0">
                <a:ea typeface="ＭＳ Ｐゴシック" panose="020B0600070205080204" pitchFamily="34" charset="-128"/>
              </a:rPr>
              <a:t>:</a:t>
            </a:r>
            <a:r>
              <a:rPr lang="en-US" altLang="en-US" b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Contains a wide variety of data used in multiple disciplines</a:t>
            </a:r>
            <a:endParaRPr lang="en-US" altLang="en-US" b="1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b="1" dirty="0">
                <a:ea typeface="ＭＳ Ｐゴシック" panose="020B0600070205080204" pitchFamily="34" charset="-128"/>
              </a:rPr>
              <a:t>Discipline-specific databases</a:t>
            </a:r>
            <a:r>
              <a:rPr lang="en-US" altLang="en-US" dirty="0">
                <a:ea typeface="ＭＳ Ｐゴシック" panose="020B0600070205080204" pitchFamily="34" charset="-128"/>
              </a:rPr>
              <a:t>: Contains data focused on specific subject areas</a:t>
            </a:r>
          </a:p>
          <a:p>
            <a:pPr lvl="1" eaLnBrk="1" hangingPunct="1"/>
            <a:endParaRPr lang="en-US" altLang="en-US" dirty="0"/>
          </a:p>
        </p:txBody>
      </p:sp>
      <p:sp>
        <p:nvSpPr>
          <p:cNvPr id="23556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A2EFF06-DB24-4FC8-8E96-0D28C47B579D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831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Types of Databases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65195" y="1659666"/>
            <a:ext cx="2717610" cy="4696683"/>
          </a:xfrm>
        </p:spPr>
        <p:txBody>
          <a:bodyPr>
            <a:normAutofit fontScale="62500" lnSpcReduction="20000"/>
          </a:bodyPr>
          <a:lstStyle/>
          <a:p>
            <a:pPr eaLnBrk="1" hangingPunct="1"/>
            <a:r>
              <a:rPr lang="en-US" altLang="en-US" b="1" dirty="0">
                <a:ea typeface="ＭＳ Ｐゴシック" panose="020B0600070205080204" pitchFamily="34" charset="-128"/>
              </a:rPr>
              <a:t>Operational database</a:t>
            </a:r>
            <a:r>
              <a:rPr lang="en-US" altLang="en-US" dirty="0">
                <a:ea typeface="ＭＳ Ｐゴシック" panose="020B0600070205080204" pitchFamily="34" charset="-128"/>
              </a:rPr>
              <a:t>: Designed to support a company’s day-to-day operations</a:t>
            </a: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b="1" dirty="0">
                <a:ea typeface="ＭＳ Ｐゴシック" panose="020B0600070205080204" pitchFamily="34" charset="-128"/>
              </a:rPr>
              <a:t>Analytical database</a:t>
            </a:r>
            <a:r>
              <a:rPr lang="en-US" altLang="en-US" dirty="0">
                <a:ea typeface="ＭＳ Ｐゴシック" panose="020B0600070205080204" pitchFamily="34" charset="-128"/>
              </a:rPr>
              <a:t>: Stores historical data and business metrics used exclusively for tactical or strategic decision making </a:t>
            </a:r>
          </a:p>
          <a:p>
            <a:pPr lvl="1" eaLnBrk="1" hangingPunct="1"/>
            <a:r>
              <a:rPr lang="en-US" altLang="en-US" b="1" dirty="0"/>
              <a:t>Data warehouse</a:t>
            </a:r>
            <a:r>
              <a:rPr lang="en-US" altLang="en-US" dirty="0"/>
              <a:t>: Stores data in a format optimized for decision support </a:t>
            </a:r>
            <a:endParaRPr lang="en-US" altLang="en-US" b="1" dirty="0"/>
          </a:p>
          <a:p>
            <a:pPr lvl="1" eaLnBrk="1" hangingPunct="1"/>
            <a:endParaRPr lang="en-US" altLang="en-US" dirty="0"/>
          </a:p>
        </p:txBody>
      </p:sp>
      <p:sp>
        <p:nvSpPr>
          <p:cNvPr id="24580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19F9519-9603-471B-99B3-AB3C7DEBEE49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  <p:pic>
        <p:nvPicPr>
          <p:cNvPr id="3" name="Picture 2" descr="diagram7---x----750-452x---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387" y="1268760"/>
            <a:ext cx="5451915" cy="473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272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Types of Databases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4682982" y="4564823"/>
            <a:ext cx="3943744" cy="1022586"/>
          </a:xfrm>
        </p:spPr>
        <p:txBody>
          <a:bodyPr>
            <a:normAutofit fontScale="55000" lnSpcReduction="20000"/>
          </a:bodyPr>
          <a:lstStyle/>
          <a:p>
            <a:r>
              <a:rPr lang="en-US" altLang="en-US" b="1" dirty="0"/>
              <a:t>Online analytical processing (OLAP)</a:t>
            </a:r>
            <a:endParaRPr lang="en-US" altLang="en-US" dirty="0"/>
          </a:p>
          <a:p>
            <a:pPr lvl="1"/>
            <a:r>
              <a:rPr lang="en-US" altLang="en-US" dirty="0"/>
              <a:t>Enable retrieving, processing, and modeling data from the data warehouse</a:t>
            </a:r>
          </a:p>
          <a:p>
            <a:pPr marL="85725" indent="0">
              <a:buNone/>
            </a:pPr>
            <a:endParaRPr lang="en-US" altLang="en-US" b="1" dirty="0"/>
          </a:p>
          <a:p>
            <a:pPr marL="0" indent="0"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5604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618D807-B88A-42A5-A894-9A4A1B9C1049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  <p:pic>
        <p:nvPicPr>
          <p:cNvPr id="3" name="Picture 2" descr="im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327" y="1546676"/>
            <a:ext cx="3239585" cy="2759647"/>
          </a:xfrm>
          <a:prstGeom prst="rect">
            <a:avLst/>
          </a:prstGeom>
        </p:spPr>
      </p:pic>
      <p:pic>
        <p:nvPicPr>
          <p:cNvPr id="4" name="Picture 3" descr="images (1)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1" y="3535776"/>
            <a:ext cx="4727071" cy="2051633"/>
          </a:xfrm>
          <a:prstGeom prst="rect">
            <a:avLst/>
          </a:prstGeom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26774" y="1081407"/>
            <a:ext cx="4706007" cy="245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397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0048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2CB6C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279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5A39D"/>
              </a:buClr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5541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0">
              <a:buNone/>
            </a:pPr>
            <a:endParaRPr lang="en-US" altLang="en-US" sz="1650" b="1" dirty="0"/>
          </a:p>
          <a:p>
            <a:r>
              <a:rPr lang="en-US" altLang="en-US" sz="1650" b="1" dirty="0"/>
              <a:t>Business intelligence</a:t>
            </a:r>
            <a:r>
              <a:rPr lang="en-US" altLang="en-US" sz="1650" dirty="0"/>
              <a:t>: Captures and processes business data to generate information that support decision making </a:t>
            </a:r>
          </a:p>
          <a:p>
            <a:pPr marL="0" indent="0">
              <a:buNone/>
            </a:pPr>
            <a:endParaRPr lang="en-US" altLang="en-US" sz="165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776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Types of Databases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196752"/>
            <a:ext cx="3739736" cy="4293221"/>
          </a:xfrm>
        </p:spPr>
        <p:txBody>
          <a:bodyPr>
            <a:normAutofit fontScale="70000" lnSpcReduction="20000"/>
          </a:bodyPr>
          <a:lstStyle/>
          <a:p>
            <a:pPr eaLnBrk="1" hangingPunct="1"/>
            <a:r>
              <a:rPr lang="en-US" altLang="en-US" b="1" dirty="0">
                <a:ea typeface="ＭＳ Ｐゴシック" panose="020B0600070205080204" pitchFamily="34" charset="-128"/>
              </a:rPr>
              <a:t>Unstructured data</a:t>
            </a:r>
            <a:r>
              <a:rPr lang="en-US" altLang="en-US" dirty="0">
                <a:ea typeface="ＭＳ Ｐゴシック" panose="020B0600070205080204" pitchFamily="34" charset="-128"/>
              </a:rPr>
              <a:t>:</a:t>
            </a:r>
            <a:r>
              <a:rPr lang="en-US" altLang="en-US" b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It exists in their original state</a:t>
            </a:r>
          </a:p>
          <a:p>
            <a:pPr eaLnBrk="1" hangingPunct="1"/>
            <a:r>
              <a:rPr lang="en-US" altLang="en-US" b="1" dirty="0">
                <a:ea typeface="ＭＳ Ｐゴシック" panose="020B0600070205080204" pitchFamily="34" charset="-128"/>
              </a:rPr>
              <a:t>Structured data</a:t>
            </a:r>
            <a:r>
              <a:rPr lang="en-US" altLang="en-US" dirty="0">
                <a:ea typeface="ＭＳ Ｐゴシック" panose="020B0600070205080204" pitchFamily="34" charset="-128"/>
              </a:rPr>
              <a:t>:</a:t>
            </a:r>
            <a:r>
              <a:rPr lang="en-US" altLang="en-US" b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It</a:t>
            </a:r>
            <a:r>
              <a:rPr lang="en-US" altLang="en-US" b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results from formatting </a:t>
            </a:r>
          </a:p>
          <a:p>
            <a:pPr lvl="1" eaLnBrk="1" hangingPunct="1"/>
            <a:r>
              <a:rPr lang="en-US" altLang="en-US" dirty="0"/>
              <a:t>Structure is applied based on type of processing to be performed</a:t>
            </a:r>
          </a:p>
          <a:p>
            <a:pPr eaLnBrk="1" hangingPunct="1"/>
            <a:r>
              <a:rPr lang="en-US" altLang="en-US" b="1" dirty="0">
                <a:ea typeface="ＭＳ Ｐゴシック" panose="020B0600070205080204" pitchFamily="34" charset="-128"/>
              </a:rPr>
              <a:t>Semi-structured data</a:t>
            </a:r>
            <a:r>
              <a:rPr lang="en-US" altLang="en-US" dirty="0">
                <a:ea typeface="ＭＳ Ｐゴシック" panose="020B0600070205080204" pitchFamily="34" charset="-128"/>
              </a:rPr>
              <a:t>:</a:t>
            </a:r>
            <a:r>
              <a:rPr lang="en-US" altLang="en-US" b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Processed to some extent</a:t>
            </a:r>
          </a:p>
          <a:p>
            <a:pPr eaLnBrk="1" hangingPunct="1"/>
            <a:r>
              <a:rPr lang="en-US" altLang="en-US" b="1" dirty="0">
                <a:ea typeface="ＭＳ Ｐゴシック" panose="020B0600070205080204" pitchFamily="34" charset="-128"/>
              </a:rPr>
              <a:t>Extensible Markup Language (XML)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en-US" dirty="0"/>
              <a:t>Represents data elements in textual format</a:t>
            </a:r>
          </a:p>
        </p:txBody>
      </p:sp>
      <p:sp>
        <p:nvSpPr>
          <p:cNvPr id="26628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D5BF60A-BD6F-4EA4-8451-2744CF641CE4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  <p:pic>
        <p:nvPicPr>
          <p:cNvPr id="3" name="Picture 2" descr="img043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590" y="998829"/>
            <a:ext cx="4477577" cy="2759259"/>
          </a:xfrm>
          <a:prstGeom prst="rect">
            <a:avLst/>
          </a:prstGeom>
        </p:spPr>
      </p:pic>
      <p:pic>
        <p:nvPicPr>
          <p:cNvPr id="4" name="Picture 3" descr="images (1).jpe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886" y="4112836"/>
            <a:ext cx="2593777" cy="242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525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Database Design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Focuses on the design of the database structure that will be used to store and manage end-user data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Well-designed database</a:t>
            </a:r>
          </a:p>
          <a:p>
            <a:pPr lvl="1" eaLnBrk="1" hangingPunct="1"/>
            <a:r>
              <a:rPr lang="en-US" altLang="en-US"/>
              <a:t>Facilitates data management</a:t>
            </a:r>
          </a:p>
          <a:p>
            <a:pPr lvl="1" eaLnBrk="1" hangingPunct="1"/>
            <a:r>
              <a:rPr lang="en-US" altLang="en-US"/>
              <a:t>Generates accurate and valuable information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Poorly designed database causes difficult-to-trace errors</a:t>
            </a:r>
          </a:p>
        </p:txBody>
      </p:sp>
      <p:sp>
        <p:nvSpPr>
          <p:cNvPr id="27652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A321118-6081-47AC-A1BA-2157B8F0DFAE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0846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Database Systems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indent="-192024">
              <a:defRPr/>
            </a:pPr>
            <a:r>
              <a:rPr lang="en-US" altLang="en-US" dirty="0">
                <a:ea typeface="ＭＳ Ｐゴシック" charset="-128"/>
              </a:rPr>
              <a:t>Logically related data stored in a single logical data repository</a:t>
            </a:r>
          </a:p>
          <a:p>
            <a:pPr marL="493776" lvl="1" indent="-185166">
              <a:defRPr/>
            </a:pPr>
            <a:r>
              <a:rPr lang="en-US" altLang="en-US" dirty="0"/>
              <a:t>Physically distributed among multiple </a:t>
            </a:r>
            <a:r>
              <a:rPr lang="en-US" altLang="en-US"/>
              <a:t>storage facilities</a:t>
            </a:r>
          </a:p>
          <a:p>
            <a:pPr marL="493776" lvl="1" indent="-185166">
              <a:defRPr/>
            </a:pPr>
            <a:r>
              <a:rPr lang="en-US" altLang="en-US"/>
              <a:t>DBMS </a:t>
            </a:r>
            <a:r>
              <a:rPr lang="en-US" altLang="en-US" dirty="0"/>
              <a:t>eliminates most of file system’s problems</a:t>
            </a:r>
          </a:p>
          <a:p>
            <a:pPr marL="0" indent="-300038">
              <a:defRPr/>
            </a:pPr>
            <a:r>
              <a:rPr lang="en-US" altLang="en-US" dirty="0"/>
              <a:t>Current generation DBMS software: </a:t>
            </a:r>
          </a:p>
          <a:p>
            <a:pPr marL="557213" lvl="2" indent="-257175">
              <a:buFont typeface="Courier New" panose="02070309020205020404" pitchFamily="49" charset="0"/>
              <a:buChar char="o"/>
              <a:defRPr/>
            </a:pPr>
            <a:r>
              <a:rPr lang="en-US" altLang="en-US" sz="1800" dirty="0"/>
              <a:t>Stores data structures, relationships between structures, and access paths</a:t>
            </a:r>
          </a:p>
          <a:p>
            <a:pPr marL="557213" lvl="2" indent="-257175">
              <a:buFont typeface="Courier New" panose="02070309020205020404" pitchFamily="49" charset="0"/>
              <a:buChar char="o"/>
              <a:defRPr/>
            </a:pPr>
            <a:r>
              <a:rPr lang="en-US" altLang="en-US" sz="1800" dirty="0"/>
              <a:t>Defines, stores, and manages all access paths and components</a:t>
            </a:r>
          </a:p>
          <a:p>
            <a:pPr marL="274320" indent="-192024">
              <a:defRPr/>
            </a:pPr>
            <a:endParaRPr lang="en-US" altLang="en-US" dirty="0">
              <a:ea typeface="ＭＳ Ｐゴシック" charset="-128"/>
            </a:endParaRPr>
          </a:p>
        </p:txBody>
      </p:sp>
      <p:sp>
        <p:nvSpPr>
          <p:cNvPr id="38916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0CECBFE-6D85-4442-8910-7855C947C565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335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10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ea typeface="ＭＳ Ｐゴシック" panose="020B0600070205080204" pitchFamily="34" charset="-128"/>
              </a:rPr>
              <a:t>Contrasting Database and File Systems</a:t>
            </a:r>
          </a:p>
        </p:txBody>
      </p:sp>
      <p:sp>
        <p:nvSpPr>
          <p:cNvPr id="3993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11EC085-E63A-4721-8F58-0B3F9753DBDA}" type="slidenum">
              <a:rPr lang="en-US" altLang="en-US"/>
              <a:pPr/>
              <a:t>33</a:t>
            </a:fld>
            <a:endParaRPr lang="en-US" altLang="en-US"/>
          </a:p>
        </p:txBody>
      </p:sp>
      <p:pic>
        <p:nvPicPr>
          <p:cNvPr id="39940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084944"/>
            <a:ext cx="7385710" cy="527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908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>
                <a:ea typeface="ＭＳ Ｐゴシック" panose="020B0600070205080204" pitchFamily="34" charset="-128"/>
              </a:rPr>
              <a:t>The Database System Environment</a:t>
            </a:r>
          </a:p>
        </p:txBody>
      </p:sp>
      <p:sp>
        <p:nvSpPr>
          <p:cNvPr id="4096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05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83E8C84-6BD3-4A34-AB8C-433A6C608EE8}" type="slidenum">
              <a:rPr lang="en-US" altLang="en-US"/>
              <a:pPr/>
              <a:t>34</a:t>
            </a:fld>
            <a:endParaRPr lang="en-US" altLang="en-US"/>
          </a:p>
        </p:txBody>
      </p:sp>
      <p:pic>
        <p:nvPicPr>
          <p:cNvPr id="40964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82" y="1417638"/>
            <a:ext cx="8569818" cy="4938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pl-PL" smtClean="0"/>
              <a:t>Information Systems Department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397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9476"/>
            <a:ext cx="9144000" cy="6099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u-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2169</TotalTime>
  <Words>1425</Words>
  <Application>Microsoft Office PowerPoint</Application>
  <PresentationFormat>On-screen Show (4:3)</PresentationFormat>
  <Paragraphs>301</Paragraphs>
  <Slides>35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ＭＳ Ｐゴシック</vt:lpstr>
      <vt:lpstr>Arial</vt:lpstr>
      <vt:lpstr>Arvo</vt:lpstr>
      <vt:lpstr>Calibri</vt:lpstr>
      <vt:lpstr>Courier New</vt:lpstr>
      <vt:lpstr>Times New Roman</vt:lpstr>
      <vt:lpstr>Verdana</vt:lpstr>
      <vt:lpstr>Wingdings</vt:lpstr>
      <vt:lpstr>Hau-2</vt:lpstr>
      <vt:lpstr>FUNDAMENTALS OF DATABASE SYSTEMS  LESSON 1: INTRODUCTION</vt:lpstr>
      <vt:lpstr>PowerPoint Presentation</vt:lpstr>
      <vt:lpstr>Contents </vt:lpstr>
      <vt:lpstr>Readings</vt:lpstr>
      <vt:lpstr>10 hottest IT positions 2019</vt:lpstr>
      <vt:lpstr>Top 10 Best Jobs in America for 2021</vt:lpstr>
      <vt:lpstr>Database Career Opportunities </vt:lpstr>
      <vt:lpstr>Top 10 DBMS 2020</vt:lpstr>
      <vt:lpstr>Top 10 DBMS 2022</vt:lpstr>
      <vt:lpstr>Các HQT CSDL dùng bởi Google, Facebook, Twitter…</vt:lpstr>
      <vt:lpstr>BASIC CONCEPTS</vt:lpstr>
      <vt:lpstr>Data – Information Examples</vt:lpstr>
      <vt:lpstr>Data vs. Information</vt:lpstr>
      <vt:lpstr>Evolution of File System Data Processing</vt:lpstr>
      <vt:lpstr>Contents of a simple Customer file</vt:lpstr>
      <vt:lpstr>A Simple File System example</vt:lpstr>
      <vt:lpstr>Problems with File System Data Processing</vt:lpstr>
      <vt:lpstr>Database</vt:lpstr>
      <vt:lpstr>Role of the DBMS</vt:lpstr>
      <vt:lpstr>The DBMS Manages the Interaction between the End User and the Database</vt:lpstr>
      <vt:lpstr>Components of DBMS</vt:lpstr>
      <vt:lpstr>Meta data</vt:lpstr>
      <vt:lpstr>PowerPoint Presentation</vt:lpstr>
      <vt:lpstr>Advantages of the DBMS</vt:lpstr>
      <vt:lpstr>Types of Databases</vt:lpstr>
      <vt:lpstr>Types of Databases</vt:lpstr>
      <vt:lpstr>Types of Databases</vt:lpstr>
      <vt:lpstr>Types of Databases</vt:lpstr>
      <vt:lpstr>Types of Databases</vt:lpstr>
      <vt:lpstr>Types of Databases</vt:lpstr>
      <vt:lpstr>Database Design</vt:lpstr>
      <vt:lpstr>Database Systems</vt:lpstr>
      <vt:lpstr>Contrasting Database and File Systems</vt:lpstr>
      <vt:lpstr>The Database System Environment</vt:lpstr>
      <vt:lpstr>PowerPoint Presentation</vt:lpstr>
    </vt:vector>
  </TitlesOfParts>
  <Company>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Cơ sở dữ liệu</dc:title>
  <dc:creator>hau</dc:creator>
  <cp:lastModifiedBy>Phương Hạnh Dư</cp:lastModifiedBy>
  <cp:revision>410</cp:revision>
  <dcterms:created xsi:type="dcterms:W3CDTF">2009-09-01T04:18:01Z</dcterms:created>
  <dcterms:modified xsi:type="dcterms:W3CDTF">2025-09-05T04:20:42Z</dcterms:modified>
</cp:coreProperties>
</file>